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9"/>
  </p:notesMasterIdLst>
  <p:handoutMasterIdLst>
    <p:handoutMasterId r:id="rId20"/>
  </p:handoutMasterIdLst>
  <p:sldIdLst>
    <p:sldId id="256" r:id="rId3"/>
    <p:sldId id="278" r:id="rId4"/>
    <p:sldId id="273" r:id="rId5"/>
    <p:sldId id="274" r:id="rId6"/>
    <p:sldId id="279" r:id="rId7"/>
    <p:sldId id="280" r:id="rId8"/>
    <p:sldId id="281" r:id="rId9"/>
    <p:sldId id="282" r:id="rId10"/>
    <p:sldId id="283" r:id="rId11"/>
    <p:sldId id="284" r:id="rId12"/>
    <p:sldId id="285" r:id="rId13"/>
    <p:sldId id="286" r:id="rId14"/>
    <p:sldId id="287" r:id="rId15"/>
    <p:sldId id="275" r:id="rId16"/>
    <p:sldId id="276" r:id="rId17"/>
    <p:sldId id="277"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handoutMaster" Target="handoutMasters/handoutMaster1.xml"/><Relationship Id="rId2" Type="http://schemas.openxmlformats.org/officeDocument/2006/relationships/theme" Target="theme/theme1.xml"/><Relationship Id="rId19" Type="http://schemas.openxmlformats.org/officeDocument/2006/relationships/notesMaster" Target="notesMasters/notesMaster1.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fld>
            <a:endParaRPr lang="en-IN"/>
          </a:p>
        </p:txBody>
      </p:sp>
    </p:spTree>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fld>
            <a:endParaRPr lang="en-IN"/>
          </a:p>
        </p:txBody>
      </p:sp>
    </p:spTree>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a:xfrm>
            <a:off x="1437664" y="798973"/>
            <a:ext cx="811019" cy="503578"/>
          </a:xfrm>
        </p:spPr>
        <p:txBody>
          <a:bodyPr/>
          <a:lstStyle/>
          <a:p>
            <a:fld id="{CBABCCC1-BF11-4F37-963E-1BCD5B23FD72}" type="slidenum">
              <a:rPr lang="en-IN" smtClean="0"/>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r>
              <a:rPr lang="en-US"/>
              <a:t>&lt;COURSE TITLE&gt;, &lt;TOPIC NAME&gt;</a:t>
            </a:r>
            <a:endParaRPr lang="en-IN" dirty="0"/>
          </a:p>
        </p:txBody>
      </p:sp>
      <p:sp>
        <p:nvSpPr>
          <p:cNvPr id="9" name="Slide Number Placeholder 8"/>
          <p:cNvSpPr>
            <a:spLocks noGrp="1"/>
          </p:cNvSpPr>
          <p:nvPr>
            <p:ph type="sldNum" sz="quarter" idx="12"/>
          </p:nvPr>
        </p:nvSpPr>
        <p:spPr/>
        <p:txBody>
          <a:bodyPr/>
          <a:lstStyle/>
          <a:p>
            <a:fld id="{CBABCCC1-BF11-4F37-963E-1BCD5B23FD72}" type="slidenum">
              <a:rPr lang="en-IN" smtClean="0"/>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&lt;COURSE TITLE&gt;, &lt;TOPIC NAME&gt;</a:t>
            </a:r>
            <a:endParaRPr lang="en-IN" dirty="0"/>
          </a:p>
        </p:txBody>
      </p:sp>
      <p:sp>
        <p:nvSpPr>
          <p:cNvPr id="5" name="Slide Number Placeholder 4"/>
          <p:cNvSpPr>
            <a:spLocks noGrp="1"/>
          </p:cNvSpPr>
          <p:nvPr>
            <p:ph type="sldNum" sz="quarter" idx="12"/>
          </p:nvPr>
        </p:nvSpPr>
        <p:spPr/>
        <p:txBody>
          <a:bodyPr/>
          <a:lstStyle/>
          <a:p>
            <a:fld id="{CBABCCC1-BF11-4F37-963E-1BCD5B23FD72}" type="slidenum">
              <a:rPr lang="en-IN" smtClean="0"/>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&lt;COURSE TITLE&gt;, &lt;TOPIC NAME&gt;</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&lt;COURSE TITLE&gt;, &lt;TOPIC NAME&gt;</a:t>
            </a:r>
            <a:endParaRPr lang="en-IN" dirty="0"/>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CBABCCC1-BF11-4F37-963E-1BCD5B23FD72}" type="slidenum">
              <a:rPr lang="en-IN" smtClean="0"/>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p:cNvPicPr>
            <a:picLocks noChangeAspect="1"/>
          </p:cNvPicPr>
          <p:nvPr userDrawn="1"/>
        </p:nvPicPr>
        <p:blipFill rotWithShape="1">
          <a:blip r:embed="rId13">
            <a:extLst>
              <a:ext uri="{28A0092B-C50C-407E-A947-70E740481C1C}">
                <a14:useLocalDpi xmlns:a14="http://schemas.microsoft.com/office/drawing/2010/main" val="0"/>
              </a:ext>
            </a:extLst>
          </a:blip>
          <a:srcRect l="4360" t="18054" b="50110"/>
          <a:stretch>
            <a:fillRect/>
          </a:stretch>
        </p:blipFill>
        <p:spPr>
          <a:xfrm>
            <a:off x="1451579" y="6373097"/>
            <a:ext cx="2912198" cy="351077"/>
          </a:xfrm>
          <a:prstGeom prst="rect">
            <a:avLst/>
          </a:prstGeom>
        </p:spPr>
      </p:pic>
      <p:pic>
        <p:nvPicPr>
          <p:cNvPr id="14" name="Picture 13" descr="Text&#10;&#10;Description automatically generated with medium confidence"/>
          <p:cNvPicPr>
            <a:picLocks noChangeAspect="1"/>
          </p:cNvPicPr>
          <p:nvPr userDrawn="1"/>
        </p:nvPicPr>
        <p:blipFill rotWithShape="1">
          <a:blip r:embed="rId13">
            <a:extLst>
              <a:ext uri="{28A0092B-C50C-407E-A947-70E740481C1C}">
                <a14:useLocalDpi xmlns:a14="http://schemas.microsoft.com/office/drawing/2010/main" val="0"/>
              </a:ext>
            </a:extLst>
          </a:blip>
          <a:srcRect t="53957" r="20929" b="13232"/>
          <a:stretch>
            <a:fillRect/>
          </a:stretch>
        </p:blipFill>
        <p:spPr>
          <a:xfrm>
            <a:off x="8825503" y="6373097"/>
            <a:ext cx="2229351" cy="335027"/>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475;p16"/>
          <p:cNvSpPr txBox="1"/>
          <p:nvPr/>
        </p:nvSpPr>
        <p:spPr>
          <a:xfrm>
            <a:off x="3663678" y="357019"/>
            <a:ext cx="5448301" cy="400069"/>
          </a:xfrm>
          <a:prstGeom prst="rect">
            <a:avLst/>
          </a:prstGeom>
          <a:noFill/>
          <a:ln>
            <a:noFill/>
          </a:ln>
          <a:effectLst/>
        </p:spPr>
        <p:txBody>
          <a:bodyPr spcFirstLastPara="1" wrap="square" lIns="91425" tIns="45700" rIns="91425" bIns="45700" anchor="t" anchorCtr="0">
            <a:spAutoFit/>
          </a:bodyPr>
          <a:lstStyle/>
          <a:p>
            <a:pPr algn="ctr"/>
            <a:r>
              <a:rPr lang="en-US" sz="2000" b="1" cap="all" dirty="0">
                <a:solidFill>
                  <a:srgbClr val="C00000"/>
                </a:solidFill>
                <a:cs typeface="Poppins" panose="00000500000000000000" pitchFamily="2" charset="0"/>
              </a:rPr>
              <a:t>DEPARTMENT OF CSE, CSIT &amp; AI&amp;Ds</a:t>
            </a:r>
            <a:endParaRPr lang="en-US" sz="2000" b="1" cap="all" dirty="0">
              <a:solidFill>
                <a:srgbClr val="C00000"/>
              </a:solidFill>
              <a:cs typeface="Poppins" panose="00000500000000000000" pitchFamily="2" charset="0"/>
            </a:endParaRPr>
          </a:p>
        </p:txBody>
      </p:sp>
      <p:sp>
        <p:nvSpPr>
          <p:cNvPr id="5" name="Google Shape;476;p16"/>
          <p:cNvSpPr txBox="1"/>
          <p:nvPr/>
        </p:nvSpPr>
        <p:spPr>
          <a:xfrm>
            <a:off x="2091448" y="1193798"/>
            <a:ext cx="8433880" cy="2275205"/>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000" b="1" cap="all" dirty="0">
                <a:solidFill>
                  <a:srgbClr val="C00000"/>
                </a:solidFill>
                <a:cs typeface="Poppins" panose="00000500000000000000" pitchFamily="2" charset="0"/>
                <a:sym typeface="BioRhyme ExtraBold"/>
              </a:rPr>
              <a:t>COURSE NAME – ADAPTIVE Software Engineering</a:t>
            </a:r>
            <a:endParaRPr lang="en-US" sz="3000" b="1" cap="all" dirty="0">
              <a:solidFill>
                <a:srgbClr val="C00000"/>
              </a:solidFill>
              <a:cs typeface="Poppins" panose="00000500000000000000" pitchFamily="2" charset="0"/>
              <a:sym typeface="BioRhyme ExtraBold"/>
            </a:endParaRPr>
          </a:p>
          <a:p>
            <a:pPr marR="0" lvl="0" indent="0" algn="ctr">
              <a:spcBef>
                <a:spcPts val="0"/>
              </a:spcBef>
              <a:spcAft>
                <a:spcPts val="0"/>
              </a:spcAft>
              <a:buNone/>
            </a:pPr>
            <a:endParaRPr lang="en-US" sz="3200" b="1" cap="all" dirty="0">
              <a:solidFill>
                <a:srgbClr val="C00000"/>
              </a:solidFill>
              <a:cs typeface="Poppins" panose="00000500000000000000" pitchFamily="2" charset="0"/>
              <a:sym typeface="BioRhyme ExtraBold"/>
            </a:endParaRPr>
          </a:p>
          <a:p>
            <a:pPr marR="0" lvl="0" indent="0" algn="ctr">
              <a:spcBef>
                <a:spcPts val="0"/>
              </a:spcBef>
              <a:spcAft>
                <a:spcPts val="0"/>
              </a:spcAft>
              <a:buNone/>
            </a:pPr>
            <a:r>
              <a:rPr lang="en-US" sz="3000" b="1" cap="all" dirty="0">
                <a:solidFill>
                  <a:srgbClr val="C00000"/>
                </a:solidFill>
                <a:cs typeface="Poppins" panose="00000500000000000000" pitchFamily="2" charset="0"/>
                <a:sym typeface="BioRhyme ExtraBold"/>
              </a:rPr>
              <a:t>COURSE CODE – 23CI2001</a:t>
            </a:r>
            <a:endParaRPr lang="en-US" sz="3000" b="1" cap="all" dirty="0">
              <a:solidFill>
                <a:srgbClr val="C00000"/>
              </a:solidFill>
              <a:cs typeface="Poppins" panose="00000500000000000000" pitchFamily="2" charset="0"/>
              <a:sym typeface="BioRhyme ExtraBold"/>
            </a:endParaRP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p:txBody>
      </p:sp>
      <p:sp>
        <p:nvSpPr>
          <p:cNvPr id="7" name="TextBox 6"/>
          <p:cNvSpPr txBox="1"/>
          <p:nvPr/>
        </p:nvSpPr>
        <p:spPr>
          <a:xfrm>
            <a:off x="2373550" y="3815681"/>
            <a:ext cx="8647889" cy="1076325"/>
          </a:xfrm>
          <a:prstGeom prst="rect">
            <a:avLst/>
          </a:prstGeom>
          <a:noFill/>
        </p:spPr>
        <p:txBody>
          <a:bodyPr wrap="square">
            <a:spAutoFit/>
          </a:bodyPr>
          <a:lstStyle/>
          <a:p>
            <a:pPr marR="0" lvl="0" indent="0" algn="ctr">
              <a:spcBef>
                <a:spcPts val="0"/>
              </a:spcBef>
              <a:spcAft>
                <a:spcPts val="0"/>
              </a:spcAft>
              <a:buNone/>
            </a:pPr>
            <a:r>
              <a:rPr lang="en-US" sz="3200" b="1" cap="all" dirty="0">
                <a:solidFill>
                  <a:srgbClr val="C00000"/>
                </a:solidFill>
                <a:cs typeface="Poppins" panose="00000500000000000000" pitchFamily="2" charset="0"/>
                <a:sym typeface="BioRhyme ExtraBold"/>
              </a:rPr>
              <a:t>Topic:</a:t>
            </a:r>
            <a:endParaRPr lang="en-US" sz="3200" b="1" cap="all" dirty="0">
              <a:solidFill>
                <a:srgbClr val="C00000"/>
              </a:solidFill>
              <a:cs typeface="Poppins" panose="00000500000000000000" pitchFamily="2" charset="0"/>
              <a:sym typeface="BioRhyme ExtraBold"/>
            </a:endParaRPr>
          </a:p>
          <a:p>
            <a:pPr marR="0" lvl="0" indent="0" algn="ctr">
              <a:spcBef>
                <a:spcPts val="0"/>
              </a:spcBef>
              <a:spcAft>
                <a:spcPts val="0"/>
              </a:spcAft>
              <a:buNone/>
            </a:pPr>
            <a:r>
              <a:rPr lang="en-US" sz="3200" b="1" cap="all" dirty="0">
                <a:solidFill>
                  <a:srgbClr val="C00000"/>
                </a:solidFill>
                <a:cs typeface="Poppins" panose="00000500000000000000" pitchFamily="2" charset="0"/>
              </a:rPr>
              <a:t>Software MYTHS</a:t>
            </a:r>
            <a:endParaRPr lang="en-US" sz="3200" b="1" cap="all" dirty="0">
              <a:solidFill>
                <a:srgbClr val="C00000"/>
              </a:solidFill>
              <a:cs typeface="Poppins" panose="00000500000000000000" pitchFamily="2"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fld>
            <a:endParaRPr lang="en-IN"/>
          </a:p>
        </p:txBody>
      </p:sp>
      <p:sp>
        <p:nvSpPr>
          <p:cNvPr id="12" name="TextBox 11"/>
          <p:cNvSpPr txBox="1"/>
          <p:nvPr/>
        </p:nvSpPr>
        <p:spPr>
          <a:xfrm>
            <a:off x="2084151" y="643808"/>
            <a:ext cx="8178530" cy="1200329"/>
          </a:xfrm>
          <a:prstGeom prst="rect">
            <a:avLst/>
          </a:prstGeom>
          <a:noFill/>
        </p:spPr>
        <p:txBody>
          <a:bodyPr wrap="square">
            <a:spAutoFit/>
          </a:bodyPr>
          <a:lstStyle/>
          <a:p>
            <a:pPr algn="ctr"/>
            <a:r>
              <a:rPr lang="en-US" sz="1800" b="1" dirty="0">
                <a:solidFill>
                  <a:srgbClr val="C00000"/>
                </a:solidFill>
              </a:rPr>
              <a:t>AIM OF THE SESSION</a:t>
            </a:r>
            <a:endParaRPr lang="en-US" sz="1800" b="1" dirty="0">
              <a:solidFill>
                <a:srgbClr val="C00000"/>
              </a:solidFill>
            </a:endParaRPr>
          </a:p>
          <a:p>
            <a:pPr algn="ctr"/>
            <a:endParaRPr lang="en-US" sz="1800" b="1" dirty="0">
              <a:solidFill>
                <a:srgbClr val="C00000"/>
              </a:solidFill>
            </a:endParaRPr>
          </a:p>
          <a:p>
            <a:pPr algn="ctr"/>
            <a:r>
              <a:rPr lang="en-US" sz="1800" b="0" i="0" dirty="0">
                <a:effectLst/>
                <a:latin typeface="Poppins"/>
                <a:cs typeface="Poppins"/>
              </a:rPr>
              <a:t>To familiarize students with the basic concept of Software and Software Engineering</a:t>
            </a:r>
            <a:endParaRPr lang="en-US" sz="1800" dirty="0"/>
          </a:p>
        </p:txBody>
      </p:sp>
      <p:sp>
        <p:nvSpPr>
          <p:cNvPr id="16" name="TextBox 15"/>
          <p:cNvSpPr txBox="1"/>
          <p:nvPr/>
        </p:nvSpPr>
        <p:spPr>
          <a:xfrm>
            <a:off x="910537" y="2080894"/>
            <a:ext cx="5590972" cy="3139321"/>
          </a:xfrm>
          <a:prstGeom prst="rect">
            <a:avLst/>
          </a:prstGeom>
          <a:noFill/>
        </p:spPr>
        <p:txBody>
          <a:bodyPr wrap="square">
            <a:spAutoFit/>
          </a:bodyPr>
          <a:lstStyle/>
          <a:p>
            <a:pPr algn="ctr"/>
            <a:r>
              <a:rPr lang="en-US" sz="1800" b="1" dirty="0">
                <a:solidFill>
                  <a:srgbClr val="C00000"/>
                </a:solidFill>
              </a:rPr>
              <a:t>INSTRUCTIONAL OBJECTIVES</a:t>
            </a:r>
            <a:endParaRPr lang="en-US" sz="1800" b="1" dirty="0">
              <a:solidFill>
                <a:srgbClr val="C00000"/>
              </a:solidFill>
            </a:endParaRPr>
          </a:p>
          <a:p>
            <a:pPr>
              <a:lnSpc>
                <a:spcPct val="200000"/>
              </a:lnSpc>
            </a:pPr>
            <a:r>
              <a:rPr lang="en-US" sz="1800" dirty="0">
                <a:latin typeface="Poppins"/>
                <a:cs typeface="Poppins"/>
              </a:rPr>
              <a:t>This</a:t>
            </a:r>
            <a:r>
              <a:rPr lang="en-US" sz="1800" b="0" i="0" dirty="0">
                <a:effectLst/>
                <a:latin typeface="Poppins"/>
                <a:cs typeface="Poppins"/>
              </a:rPr>
              <a:t> </a:t>
            </a:r>
            <a:r>
              <a:rPr lang="en-US" sz="1800" dirty="0">
                <a:latin typeface="Poppins"/>
                <a:cs typeface="Poppins"/>
              </a:rPr>
              <a:t>Session</a:t>
            </a:r>
            <a:r>
              <a:rPr lang="en-US" sz="1800" b="0" i="0" dirty="0">
                <a:effectLst/>
                <a:latin typeface="Poppins"/>
                <a:cs typeface="Poppins"/>
              </a:rPr>
              <a:t> is designed to:</a:t>
            </a:r>
            <a:endParaRPr lang="en-US" sz="1800" b="0" i="0" dirty="0">
              <a:effectLst/>
              <a:latin typeface="Poppins"/>
              <a:cs typeface="Poppins"/>
            </a:endParaRPr>
          </a:p>
          <a:p>
            <a:pPr marL="342900" indent="-342900">
              <a:buFontTx/>
              <a:buAutoNum type="arabicPeriod"/>
            </a:pPr>
            <a:r>
              <a:rPr lang="en-US" sz="1800" b="0" i="0" dirty="0">
                <a:effectLst/>
                <a:latin typeface="Arial" panose="020B0604020202020204" pitchFamily="34" charset="0"/>
              </a:rPr>
              <a:t>Demonstrate  </a:t>
            </a:r>
            <a:r>
              <a:rPr lang="en-US" sz="1800" b="1" dirty="0">
                <a:ea typeface="+mn-lt"/>
                <a:cs typeface="+mn-lt"/>
              </a:rPr>
              <a:t>Software Engineering Definition - IEEE</a:t>
            </a:r>
            <a:endParaRPr lang="en-US" sz="1800" dirty="0">
              <a:ea typeface="+mn-lt"/>
              <a:cs typeface="+mn-lt"/>
            </a:endParaRPr>
          </a:p>
          <a:p>
            <a:pPr marL="342900" indent="-342900">
              <a:buFontTx/>
              <a:buAutoNum type="arabicPeriod"/>
            </a:pPr>
            <a:r>
              <a:rPr lang="en-US" sz="1800" b="0" i="0" dirty="0">
                <a:effectLst/>
                <a:latin typeface="Arial" panose="020B0604020202020204" pitchFamily="34" charset="0"/>
              </a:rPr>
              <a:t>Describe  </a:t>
            </a:r>
            <a:r>
              <a:rPr lang="en-US" sz="1800" b="1" dirty="0">
                <a:ea typeface="+mn-lt"/>
                <a:cs typeface="+mn-lt"/>
              </a:rPr>
              <a:t>A Layered Technology</a:t>
            </a:r>
            <a:endParaRPr lang="en-US" sz="1800" dirty="0">
              <a:ea typeface="+mn-lt"/>
              <a:cs typeface="+mn-lt"/>
            </a:endParaRPr>
          </a:p>
          <a:p>
            <a:pPr marL="342900" indent="-342900">
              <a:buFontTx/>
              <a:buAutoNum type="arabicPeriod"/>
            </a:pPr>
            <a:r>
              <a:rPr lang="en-US" sz="1800" b="0" i="0" dirty="0">
                <a:effectLst/>
                <a:latin typeface="Arial" panose="020B0604020202020204" pitchFamily="34" charset="0"/>
              </a:rPr>
              <a:t>List out the  </a:t>
            </a:r>
            <a:r>
              <a:rPr lang="en-IN" sz="1800" b="1" dirty="0">
                <a:latin typeface="Calibri Light" panose="020F0302020204030204"/>
                <a:cs typeface="Calibri Light" panose="020F0302020204030204"/>
              </a:rPr>
              <a:t>Software Process and process framework activity</a:t>
            </a:r>
            <a:endParaRPr lang="en-US" sz="1800" dirty="0">
              <a:ea typeface="+mn-lt"/>
              <a:cs typeface="+mn-lt"/>
            </a:endParaRPr>
          </a:p>
          <a:p>
            <a:pPr marL="342900" indent="-342900">
              <a:buFontTx/>
              <a:buAutoNum type="arabicPeriod"/>
            </a:pPr>
            <a:r>
              <a:rPr lang="en-US" sz="1800" b="0" i="0" dirty="0">
                <a:effectLst/>
                <a:latin typeface="Arial" panose="020B0604020202020204"/>
                <a:cs typeface="Arial" panose="020B0604020202020204"/>
              </a:rPr>
              <a:t>Describe the  </a:t>
            </a:r>
            <a:r>
              <a:rPr lang="en-US" sz="1800" b="1" dirty="0">
                <a:cs typeface="Calibri" panose="020F0502020204030204"/>
              </a:rPr>
              <a:t>Umbrella Activities , Software Engineering </a:t>
            </a:r>
            <a:r>
              <a:rPr lang="en-IN" sz="1800" b="1" dirty="0">
                <a:ea typeface="+mn-lt"/>
                <a:cs typeface="+mn-lt"/>
              </a:rPr>
              <a:t>Practice,</a:t>
            </a:r>
            <a:r>
              <a:rPr lang="en-US" sz="1800" b="1" dirty="0">
                <a:cs typeface="Calibri" panose="020F0502020204030204"/>
              </a:rPr>
              <a:t> Software Myths</a:t>
            </a:r>
            <a:endParaRPr lang="en-US" sz="1800" dirty="0">
              <a:ea typeface="+mn-lt"/>
              <a:cs typeface="+mn-lt"/>
            </a:endParaRPr>
          </a:p>
          <a:p>
            <a:pPr algn="ctr"/>
            <a:endParaRPr lang="en-US" sz="1800" dirty="0"/>
          </a:p>
        </p:txBody>
      </p:sp>
      <p:sp>
        <p:nvSpPr>
          <p:cNvPr id="20" name="TextBox 19"/>
          <p:cNvSpPr txBox="1"/>
          <p:nvPr/>
        </p:nvSpPr>
        <p:spPr>
          <a:xfrm>
            <a:off x="6377290" y="2033862"/>
            <a:ext cx="5814710" cy="2585323"/>
          </a:xfrm>
          <a:prstGeom prst="rect">
            <a:avLst/>
          </a:prstGeom>
          <a:noFill/>
        </p:spPr>
        <p:txBody>
          <a:bodyPr wrap="square">
            <a:spAutoFit/>
          </a:bodyPr>
          <a:lstStyle/>
          <a:p>
            <a:pPr algn="ctr"/>
            <a:r>
              <a:rPr lang="en-US" sz="1800" b="1" dirty="0">
                <a:solidFill>
                  <a:srgbClr val="C00000"/>
                </a:solidFill>
              </a:rPr>
              <a:t>LEARNING OUTCOMES</a:t>
            </a:r>
            <a:endParaRPr lang="en-US" sz="1800" b="1" dirty="0">
              <a:solidFill>
                <a:srgbClr val="C00000"/>
              </a:solidFill>
            </a:endParaRPr>
          </a:p>
          <a:p>
            <a:pPr>
              <a:lnSpc>
                <a:spcPct val="200000"/>
              </a:lnSpc>
            </a:pPr>
            <a:r>
              <a:rPr lang="en-US" sz="1800" b="0" i="0" dirty="0">
                <a:effectLst/>
                <a:latin typeface="Arial" panose="020B0604020202020204"/>
                <a:cs typeface="Arial" panose="020B0604020202020204"/>
              </a:rPr>
              <a:t>At the end of this </a:t>
            </a:r>
            <a:r>
              <a:rPr lang="en-US" sz="1800" dirty="0">
                <a:latin typeface="Arial" panose="020B0604020202020204"/>
                <a:cs typeface="Arial" panose="020B0604020202020204"/>
              </a:rPr>
              <a:t>session</a:t>
            </a:r>
            <a:r>
              <a:rPr lang="en-US" sz="1800" b="0" i="0" dirty="0">
                <a:effectLst/>
                <a:latin typeface="Arial" panose="020B0604020202020204"/>
                <a:cs typeface="Arial" panose="020B0604020202020204"/>
              </a:rPr>
              <a:t>, you should be able to:</a:t>
            </a:r>
            <a:endParaRPr lang="en-US" sz="1800" b="0" i="0" dirty="0">
              <a:effectLst/>
              <a:latin typeface="Arial" panose="020B0604020202020204"/>
              <a:cs typeface="Arial" panose="020B0604020202020204"/>
            </a:endParaRPr>
          </a:p>
          <a:p>
            <a:pPr marL="342900" indent="-342900">
              <a:buAutoNum type="arabicPeriod"/>
            </a:pPr>
            <a:r>
              <a:rPr lang="en-US" sz="1800" b="0" i="0" dirty="0">
                <a:effectLst/>
                <a:latin typeface="Arial" panose="020B0604020202020204" pitchFamily="34" charset="0"/>
              </a:rPr>
              <a:t>Define </a:t>
            </a:r>
            <a:r>
              <a:rPr lang="en-US" sz="1800" b="1" dirty="0">
                <a:ea typeface="+mn-lt"/>
                <a:cs typeface="+mn-lt"/>
              </a:rPr>
              <a:t>Software Engineering Definition - IEEE</a:t>
            </a:r>
            <a:endParaRPr lang="en-US" sz="1800" b="0" i="0" dirty="0">
              <a:effectLst/>
              <a:latin typeface="Arial" panose="020B0604020202020204" pitchFamily="34" charset="0"/>
            </a:endParaRPr>
          </a:p>
          <a:p>
            <a:pPr marL="342900" indent="-342900">
              <a:buFontTx/>
              <a:buAutoNum type="arabicPeriod"/>
            </a:pPr>
            <a:r>
              <a:rPr lang="en-US" sz="1800" b="0" i="0" dirty="0">
                <a:effectLst/>
                <a:latin typeface="Arial" panose="020B0604020202020204" pitchFamily="34" charset="0"/>
              </a:rPr>
              <a:t>Describe the </a:t>
            </a:r>
            <a:r>
              <a:rPr lang="en-IN" sz="1800" b="1" dirty="0">
                <a:latin typeface="Calibri Light" panose="020F0302020204030204"/>
                <a:cs typeface="Calibri Light" panose="020F0302020204030204"/>
              </a:rPr>
              <a:t>Software Process and process framework activity</a:t>
            </a:r>
            <a:endParaRPr lang="en-US" sz="1800" dirty="0">
              <a:ea typeface="+mn-lt"/>
              <a:cs typeface="+mn-lt"/>
            </a:endParaRPr>
          </a:p>
          <a:p>
            <a:pPr marL="342900" indent="-342900">
              <a:buFontTx/>
              <a:buAutoNum type="arabicPeriod"/>
            </a:pPr>
            <a:r>
              <a:rPr lang="en-US" sz="1800" dirty="0">
                <a:latin typeface="Arial" panose="020B0604020202020204" pitchFamily="34" charset="0"/>
              </a:rPr>
              <a:t>Summarize  </a:t>
            </a:r>
            <a:r>
              <a:rPr lang="en-US" sz="1800" b="1" dirty="0">
                <a:cs typeface="Calibri" panose="020F0502020204030204"/>
              </a:rPr>
              <a:t>Umbrella Activities, Software Engineering </a:t>
            </a:r>
            <a:r>
              <a:rPr lang="en-IN" sz="1800" b="1" dirty="0">
                <a:ea typeface="+mn-lt"/>
                <a:cs typeface="+mn-lt"/>
              </a:rPr>
              <a:t>Practice,</a:t>
            </a:r>
            <a:r>
              <a:rPr lang="en-US" sz="1800" b="1" dirty="0">
                <a:cs typeface="Calibri" panose="020F0502020204030204"/>
              </a:rPr>
              <a:t> and Software Myths</a:t>
            </a:r>
            <a:endParaRPr lang="en-US" sz="1800" dirty="0">
              <a:ea typeface="+mn-lt"/>
              <a:cs typeface="+mn-lt"/>
            </a:endParaRPr>
          </a:p>
          <a:p>
            <a:pPr algn="ct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fld>
            <a:endParaRPr lang="en-IN"/>
          </a:p>
        </p:txBody>
      </p:sp>
      <p:sp>
        <p:nvSpPr>
          <p:cNvPr id="2" name="Title 1"/>
          <p:cNvSpPr>
            <a:spLocks noGrp="1"/>
          </p:cNvSpPr>
          <p:nvPr>
            <p:ph type="title"/>
          </p:nvPr>
        </p:nvSpPr>
        <p:spPr>
          <a:xfrm>
            <a:off x="1981200" y="1217245"/>
            <a:ext cx="8229600" cy="519560"/>
          </a:xfrm>
        </p:spPr>
        <p:txBody>
          <a:bodyPr>
            <a:normAutofit fontScale="90000"/>
          </a:bodyPr>
          <a:lstStyle/>
          <a:p>
            <a:pPr algn="ctr"/>
            <a:r>
              <a:rPr lang="en-US" sz="3600" b="1" dirty="0">
                <a:solidFill>
                  <a:srgbClr val="C00000"/>
                </a:solidFill>
                <a:latin typeface="Helvetica Neue"/>
                <a:ea typeface="Helvetica Neue"/>
                <a:cs typeface="Helvetica Neue"/>
                <a:sym typeface="Helvetica Neue"/>
              </a:rPr>
              <a:t>Software Myths</a:t>
            </a:r>
            <a:endParaRPr lang="en-IN" b="1" dirty="0">
              <a:solidFill>
                <a:srgbClr val="C00000"/>
              </a:solidFill>
            </a:endParaRPr>
          </a:p>
        </p:txBody>
      </p:sp>
      <p:sp>
        <p:nvSpPr>
          <p:cNvPr id="9" name="Content Placeholder 2"/>
          <p:cNvSpPr>
            <a:spLocks noGrp="1"/>
          </p:cNvSpPr>
          <p:nvPr>
            <p:ph idx="1"/>
          </p:nvPr>
        </p:nvSpPr>
        <p:spPr>
          <a:xfrm>
            <a:off x="914400" y="1617926"/>
            <a:ext cx="11277600" cy="4792093"/>
          </a:xfrm>
        </p:spPr>
        <p:txBody>
          <a:bodyPr/>
          <a:lstStyle/>
          <a:p>
            <a:pPr marL="342900" lvl="0" indent="-342900">
              <a:spcBef>
                <a:spcPts val="0"/>
              </a:spcBef>
              <a:buClr>
                <a:schemeClr val="folHlink"/>
              </a:buClr>
              <a:buSzPct val="75000"/>
              <a:buFont typeface="Noto Symbol"/>
              <a:buChar char="■"/>
            </a:pPr>
            <a:endParaRPr lang="en-US" sz="2200" dirty="0">
              <a:solidFill>
                <a:schemeClr val="dk1"/>
              </a:solidFill>
              <a:latin typeface="Times New Roman" panose="02020603050405020304" pitchFamily="18" charset="0"/>
              <a:ea typeface="Helvetica Neue"/>
              <a:cs typeface="Times New Roman" panose="02020603050405020304" pitchFamily="18" charset="0"/>
              <a:sym typeface="Helvetica Neue"/>
            </a:endParaRPr>
          </a:p>
          <a:p>
            <a:pPr marL="342900" lvl="0" indent="-342900">
              <a:spcBef>
                <a:spcPts val="0"/>
              </a:spcBef>
              <a:buClr>
                <a:schemeClr val="folHlink"/>
              </a:buClr>
              <a:buSzPct val="75000"/>
              <a:buFont typeface="Noto Symbol"/>
              <a:buChar char="■"/>
            </a:pPr>
            <a:r>
              <a:rPr lang="en-US" sz="2200" dirty="0">
                <a:solidFill>
                  <a:schemeClr val="dk1"/>
                </a:solidFill>
                <a:latin typeface="Times New Roman" panose="02020603050405020304" pitchFamily="18" charset="0"/>
                <a:ea typeface="Helvetica Neue"/>
                <a:cs typeface="Times New Roman" panose="02020603050405020304" pitchFamily="18" charset="0"/>
                <a:sym typeface="Helvetica Neue"/>
              </a:rPr>
              <a:t>Myth means, a false belief or idea</a:t>
            </a:r>
            <a:endParaRPr lang="en-US" sz="2200" dirty="0">
              <a:solidFill>
                <a:schemeClr val="dk1"/>
              </a:solidFill>
              <a:latin typeface="Times New Roman" panose="02020603050405020304" pitchFamily="18" charset="0"/>
              <a:ea typeface="Helvetica Neue"/>
              <a:cs typeface="Times New Roman" panose="02020603050405020304" pitchFamily="18" charset="0"/>
              <a:sym typeface="Helvetica Neue"/>
            </a:endParaRPr>
          </a:p>
          <a:p>
            <a:pPr marL="342900" lvl="0" indent="-342900">
              <a:spcBef>
                <a:spcPts val="0"/>
              </a:spcBef>
              <a:buClr>
                <a:schemeClr val="folHlink"/>
              </a:buClr>
              <a:buSzPct val="75000"/>
              <a:buFont typeface="Noto Symbol"/>
              <a:buChar char="■"/>
            </a:pPr>
            <a:r>
              <a:rPr lang="en-US" sz="2200" dirty="0">
                <a:solidFill>
                  <a:schemeClr val="dk1"/>
                </a:solidFill>
                <a:latin typeface="Times New Roman" panose="02020603050405020304" pitchFamily="18" charset="0"/>
                <a:ea typeface="Helvetica Neue"/>
                <a:cs typeface="Times New Roman" panose="02020603050405020304" pitchFamily="18" charset="0"/>
                <a:sym typeface="Helvetica Neue"/>
              </a:rPr>
              <a:t>Affect managers, customers (and other non-technical stakeholders) and practitioners</a:t>
            </a:r>
            <a:endParaRPr lang="en-US" sz="2200" dirty="0">
              <a:solidFill>
                <a:schemeClr val="dk1"/>
              </a:solidFill>
              <a:latin typeface="Times New Roman" panose="02020603050405020304" pitchFamily="18" charset="0"/>
              <a:ea typeface="Helvetica Neue"/>
              <a:cs typeface="Times New Roman" panose="02020603050405020304" pitchFamily="18" charset="0"/>
              <a:sym typeface="Helvetica Neue"/>
            </a:endParaRPr>
          </a:p>
          <a:p>
            <a:pPr marL="342900" lvl="0" indent="-342900">
              <a:spcBef>
                <a:spcPts val="480"/>
              </a:spcBef>
              <a:buClr>
                <a:schemeClr val="folHlink"/>
              </a:buClr>
              <a:buSzPct val="75000"/>
              <a:buFont typeface="Noto Symbol"/>
              <a:buChar char="■"/>
            </a:pPr>
            <a:r>
              <a:rPr lang="en-US" sz="2200" dirty="0">
                <a:solidFill>
                  <a:schemeClr val="dk1"/>
                </a:solidFill>
                <a:latin typeface="Times New Roman" panose="02020603050405020304" pitchFamily="18" charset="0"/>
                <a:ea typeface="Helvetica Neue"/>
                <a:cs typeface="Times New Roman" panose="02020603050405020304" pitchFamily="18" charset="0"/>
                <a:sym typeface="Helvetica Neue"/>
              </a:rPr>
              <a:t>Are believable because they often have elements of truth, </a:t>
            </a:r>
            <a:endParaRPr lang="en-US" sz="2200" dirty="0">
              <a:solidFill>
                <a:schemeClr val="dk1"/>
              </a:solidFill>
              <a:latin typeface="Times New Roman" panose="02020603050405020304" pitchFamily="18" charset="0"/>
              <a:ea typeface="Helvetica Neue"/>
              <a:cs typeface="Times New Roman" panose="02020603050405020304" pitchFamily="18" charset="0"/>
              <a:sym typeface="Helvetica Neue"/>
            </a:endParaRPr>
          </a:p>
          <a:p>
            <a:pPr marL="342900" lvl="0" indent="-342900">
              <a:spcBef>
                <a:spcPts val="480"/>
              </a:spcBef>
              <a:buClr>
                <a:schemeClr val="folHlink"/>
              </a:buClr>
              <a:buSzPct val="25000"/>
              <a:buNone/>
            </a:pPr>
            <a:r>
              <a:rPr lang="en-US" sz="2200" i="1" dirty="0">
                <a:solidFill>
                  <a:srgbClr val="C00000"/>
                </a:solidFill>
                <a:latin typeface="Times New Roman" panose="02020603050405020304" pitchFamily="18" charset="0"/>
                <a:ea typeface="Helvetica Neue"/>
                <a:cs typeface="Times New Roman" panose="02020603050405020304" pitchFamily="18" charset="0"/>
                <a:sym typeface="Helvetica Neue"/>
              </a:rPr>
              <a:t>but …</a:t>
            </a:r>
            <a:endParaRPr lang="en-US" sz="2200" i="1" dirty="0">
              <a:solidFill>
                <a:srgbClr val="C00000"/>
              </a:solidFill>
              <a:latin typeface="Times New Roman" panose="02020603050405020304" pitchFamily="18" charset="0"/>
              <a:ea typeface="Helvetica Neue"/>
              <a:cs typeface="Times New Roman" panose="02020603050405020304" pitchFamily="18" charset="0"/>
              <a:sym typeface="Helvetica Neue"/>
            </a:endParaRPr>
          </a:p>
          <a:p>
            <a:pPr marL="342900" lvl="0" indent="-342900">
              <a:spcBef>
                <a:spcPts val="480"/>
              </a:spcBef>
              <a:buClr>
                <a:schemeClr val="folHlink"/>
              </a:buClr>
              <a:buSzPct val="75000"/>
              <a:buFont typeface="Noto Symbol"/>
              <a:buChar char="■"/>
            </a:pPr>
            <a:r>
              <a:rPr lang="en-US" sz="2200" dirty="0">
                <a:solidFill>
                  <a:schemeClr val="dk1"/>
                </a:solidFill>
                <a:latin typeface="Times New Roman" panose="02020603050405020304" pitchFamily="18" charset="0"/>
                <a:ea typeface="Helvetica Neue"/>
                <a:cs typeface="Times New Roman" panose="02020603050405020304" pitchFamily="18" charset="0"/>
                <a:sym typeface="Helvetica Neue"/>
              </a:rPr>
              <a:t>Invariably lead to bad decisions, </a:t>
            </a:r>
            <a:endParaRPr lang="en-US" sz="2200" dirty="0">
              <a:solidFill>
                <a:schemeClr val="dk1"/>
              </a:solidFill>
              <a:latin typeface="Times New Roman" panose="02020603050405020304" pitchFamily="18" charset="0"/>
              <a:ea typeface="Helvetica Neue"/>
              <a:cs typeface="Times New Roman" panose="02020603050405020304" pitchFamily="18" charset="0"/>
              <a:sym typeface="Helvetica Neue"/>
            </a:endParaRPr>
          </a:p>
          <a:p>
            <a:pPr marL="342900" lvl="0" indent="-342900">
              <a:spcBef>
                <a:spcPts val="480"/>
              </a:spcBef>
              <a:buClr>
                <a:schemeClr val="folHlink"/>
              </a:buClr>
              <a:buSzPct val="25000"/>
              <a:buNone/>
            </a:pPr>
            <a:r>
              <a:rPr lang="en-US" sz="2200" i="1" dirty="0">
                <a:solidFill>
                  <a:srgbClr val="C00000"/>
                </a:solidFill>
                <a:latin typeface="Times New Roman" panose="02020603050405020304" pitchFamily="18" charset="0"/>
                <a:ea typeface="Helvetica Neue"/>
                <a:cs typeface="Times New Roman" panose="02020603050405020304" pitchFamily="18" charset="0"/>
                <a:sym typeface="Helvetica Neue"/>
              </a:rPr>
              <a:t>therefore …</a:t>
            </a:r>
            <a:endParaRPr lang="en-US" sz="2200" i="1" dirty="0">
              <a:solidFill>
                <a:srgbClr val="C00000"/>
              </a:solidFill>
              <a:latin typeface="Times New Roman" panose="02020603050405020304" pitchFamily="18" charset="0"/>
              <a:ea typeface="Helvetica Neue"/>
              <a:cs typeface="Times New Roman" panose="02020603050405020304" pitchFamily="18" charset="0"/>
              <a:sym typeface="Helvetica Neue"/>
            </a:endParaRPr>
          </a:p>
          <a:p>
            <a:pPr marL="342900" lvl="0" indent="-342900">
              <a:spcBef>
                <a:spcPts val="480"/>
              </a:spcBef>
              <a:buClr>
                <a:schemeClr val="folHlink"/>
              </a:buClr>
              <a:buSzPct val="75000"/>
              <a:buFont typeface="Noto Symbol"/>
              <a:buChar char="■"/>
            </a:pPr>
            <a:r>
              <a:rPr lang="en-US" sz="2200" dirty="0">
                <a:solidFill>
                  <a:schemeClr val="dk1"/>
                </a:solidFill>
                <a:latin typeface="Times New Roman" panose="02020603050405020304" pitchFamily="18" charset="0"/>
                <a:ea typeface="Helvetica Neue"/>
                <a:cs typeface="Times New Roman" panose="02020603050405020304" pitchFamily="18" charset="0"/>
                <a:sym typeface="Helvetica Neue"/>
              </a:rPr>
              <a:t>Insist on reality as you navigate your way through software engineering</a:t>
            </a:r>
            <a:endParaRPr lang="en-US" sz="2200" dirty="0">
              <a:solidFill>
                <a:schemeClr val="dk1"/>
              </a:solidFill>
              <a:latin typeface="Times New Roman" panose="02020603050405020304" pitchFamily="18" charset="0"/>
              <a:ea typeface="Helvetica Neue"/>
              <a:cs typeface="Times New Roman" panose="02020603050405020304" pitchFamily="18" charset="0"/>
              <a:sym typeface="Helvetica Neue"/>
            </a:endParaRPr>
          </a:p>
          <a:p>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fld>
            <a:endParaRPr lang="en-IN"/>
          </a:p>
        </p:txBody>
      </p:sp>
      <p:sp>
        <p:nvSpPr>
          <p:cNvPr id="5" name="Rectangle 2"/>
          <p:cNvSpPr>
            <a:spLocks noGrp="1" noChangeArrowheads="1"/>
          </p:cNvSpPr>
          <p:nvPr>
            <p:ph type="title"/>
          </p:nvPr>
        </p:nvSpPr>
        <p:spPr>
          <a:xfrm>
            <a:off x="2925761" y="1294707"/>
            <a:ext cx="6340475" cy="503578"/>
          </a:xfrm>
        </p:spPr>
        <p:txBody>
          <a:bodyPr>
            <a:normAutofit fontScale="90000"/>
          </a:bodyPr>
          <a:lstStyle/>
          <a:p>
            <a:pPr algn="l" eaLnBrk="1" hangingPunct="1"/>
            <a:r>
              <a:rPr lang="en-US" altLang="zh-CN" b="1" dirty="0">
                <a:solidFill>
                  <a:srgbClr val="C00000"/>
                </a:solidFill>
                <a:ea typeface="SimSun" panose="02010600030101010101" pitchFamily="2" charset="-122"/>
              </a:rPr>
              <a:t>1.Management Myths</a:t>
            </a:r>
            <a:endParaRPr lang="en-US" altLang="zh-CN" b="1" dirty="0">
              <a:solidFill>
                <a:srgbClr val="C00000"/>
              </a:solidFill>
              <a:ea typeface="SimSun" panose="02010600030101010101" pitchFamily="2" charset="-122"/>
            </a:endParaRPr>
          </a:p>
        </p:txBody>
      </p:sp>
      <p:sp>
        <p:nvSpPr>
          <p:cNvPr id="8" name="Rectangle 3"/>
          <p:cNvSpPr>
            <a:spLocks noGrp="1" noChangeArrowheads="1"/>
          </p:cNvSpPr>
          <p:nvPr>
            <p:ph idx="1"/>
          </p:nvPr>
        </p:nvSpPr>
        <p:spPr>
          <a:xfrm>
            <a:off x="1160206" y="2061556"/>
            <a:ext cx="9861755" cy="3624349"/>
          </a:xfrm>
        </p:spPr>
        <p:txBody>
          <a:bodyPr>
            <a:noAutofit/>
          </a:bodyPr>
          <a:lstStyle/>
          <a:p>
            <a:pPr marL="0" indent="0" eaLnBrk="1" hangingPunct="1">
              <a:buNone/>
              <a:defRPr/>
            </a:pPr>
            <a:r>
              <a:rPr lang="en-IN" altLang="zh-CN" sz="2200" b="1" dirty="0">
                <a:latin typeface="Times New Roman" panose="02020603050405020304" pitchFamily="18" charset="0"/>
                <a:ea typeface="SimSun" panose="02010600030101010101" pitchFamily="2" charset="-122"/>
                <a:cs typeface="Times New Roman" panose="02020603050405020304" pitchFamily="18" charset="0"/>
              </a:rPr>
              <a:t>Myth1:</a:t>
            </a:r>
            <a:endParaRPr lang="en-IN" altLang="zh-CN" sz="2200" b="1" dirty="0">
              <a:latin typeface="Times New Roman" panose="02020603050405020304" pitchFamily="18" charset="0"/>
              <a:ea typeface="SimSun" panose="02010600030101010101" pitchFamily="2" charset="-122"/>
              <a:cs typeface="Times New Roman" panose="02020603050405020304" pitchFamily="18" charset="0"/>
            </a:endParaRPr>
          </a:p>
          <a:p>
            <a:pPr eaLnBrk="1" hangingPunct="1">
              <a:defRPr/>
            </a:pPr>
            <a:r>
              <a:rPr lang="zh-CN" altLang="en-US" sz="2200" dirty="0">
                <a:latin typeface="Times New Roman" panose="02020603050405020304" pitchFamily="18" charset="0"/>
                <a:ea typeface="SimSun" panose="02010600030101010101" pitchFamily="2" charset="-122"/>
                <a:cs typeface="Times New Roman" panose="02020603050405020304" pitchFamily="18" charset="0"/>
              </a:rPr>
              <a:t>“</a:t>
            </a:r>
            <a:r>
              <a:rPr lang="en-US" altLang="zh-CN" sz="2200" dirty="0">
                <a:latin typeface="Times New Roman" panose="02020603050405020304" pitchFamily="18" charset="0"/>
                <a:ea typeface="SimSun" panose="02010600030101010101" pitchFamily="2" charset="-122"/>
                <a:cs typeface="Times New Roman" panose="02020603050405020304" pitchFamily="18" charset="0"/>
              </a:rPr>
              <a:t>We already have a book of standards and procedures for building software. It does provide my people with everything they need to know …”</a:t>
            </a:r>
            <a:endParaRPr lang="en-US" altLang="zh-CN" sz="2200" dirty="0">
              <a:latin typeface="Times New Roman" panose="02020603050405020304" pitchFamily="18" charset="0"/>
              <a:ea typeface="SimSun" panose="02010600030101010101" pitchFamily="2" charset="-122"/>
              <a:cs typeface="Times New Roman" panose="02020603050405020304" pitchFamily="18" charset="0"/>
            </a:endParaRPr>
          </a:p>
          <a:p>
            <a:pPr fontAlgn="base">
              <a:buNone/>
            </a:pPr>
            <a:r>
              <a:rPr lang="en-US" sz="2200" b="1" u="sng" dirty="0">
                <a:latin typeface="Times New Roman" panose="02020603050405020304" pitchFamily="18" charset="0"/>
                <a:cs typeface="Times New Roman" panose="02020603050405020304" pitchFamily="18" charset="0"/>
              </a:rPr>
              <a:t>Fact</a:t>
            </a:r>
            <a:r>
              <a:rPr lang="en-US" sz="2200" b="1" dirty="0">
                <a:latin typeface="Times New Roman" panose="02020603050405020304" pitchFamily="18" charset="0"/>
                <a:cs typeface="Times New Roman" panose="02020603050405020304" pitchFamily="18" charset="0"/>
              </a:rPr>
              <a:t>:</a:t>
            </a:r>
            <a:endParaRPr lang="en-US" sz="2200" b="1" dirty="0">
              <a:latin typeface="Times New Roman" panose="02020603050405020304" pitchFamily="18" charset="0"/>
              <a:cs typeface="Times New Roman" panose="02020603050405020304" pitchFamily="18" charset="0"/>
            </a:endParaRPr>
          </a:p>
          <a:p>
            <a:pPr fontAlgn="base"/>
            <a:r>
              <a:rPr lang="en-US" sz="2200" dirty="0">
                <a:latin typeface="Times New Roman" panose="02020603050405020304" pitchFamily="18" charset="0"/>
                <a:cs typeface="Times New Roman" panose="02020603050405020304" pitchFamily="18" charset="0"/>
              </a:rPr>
              <a:t>Software experts do not know all the requirements for the software development.</a:t>
            </a:r>
            <a:endParaRPr lang="en-US" sz="2200" dirty="0">
              <a:latin typeface="Times New Roman" panose="02020603050405020304" pitchFamily="18" charset="0"/>
              <a:cs typeface="Times New Roman" panose="02020603050405020304" pitchFamily="18" charset="0"/>
            </a:endParaRPr>
          </a:p>
          <a:p>
            <a:pPr fontAlgn="base"/>
            <a:r>
              <a:rPr lang="en-US" sz="2200" dirty="0">
                <a:latin typeface="Times New Roman" panose="02020603050405020304" pitchFamily="18" charset="0"/>
                <a:cs typeface="Times New Roman" panose="02020603050405020304" pitchFamily="18" charset="0"/>
              </a:rPr>
              <a:t>And all existing processes are incomplete as new software development is based on new and different problem.</a:t>
            </a:r>
            <a:endParaRPr lang="en-US" sz="2200" dirty="0">
              <a:latin typeface="Times New Roman" panose="02020603050405020304" pitchFamily="18" charset="0"/>
              <a:cs typeface="Times New Roman" panose="02020603050405020304" pitchFamily="18" charset="0"/>
            </a:endParaRPr>
          </a:p>
          <a:p>
            <a:pPr eaLnBrk="1" hangingPunct="1">
              <a:defRPr/>
            </a:pPr>
            <a:endParaRPr lang="en-US" altLang="zh-CN" sz="2200" dirty="0">
              <a:latin typeface="Times New Roman" panose="02020603050405020304" pitchFamily="18" charset="0"/>
              <a:ea typeface="SimSun" panose="02010600030101010101" pitchFamily="2" charset="-122"/>
              <a:cs typeface="Times New Roman" panose="02020603050405020304" pitchFamily="18" charset="0"/>
            </a:endParaRPr>
          </a:p>
          <a:p>
            <a:pPr marL="0" indent="0" eaLnBrk="1" hangingPunct="1">
              <a:buNone/>
              <a:defRPr/>
            </a:pPr>
            <a:endParaRPr lang="en-US" altLang="zh-CN" sz="2200" dirty="0">
              <a:latin typeface="Times New Roman" panose="02020603050405020304" pitchFamily="18" charset="0"/>
              <a:ea typeface="SimSun" panose="02010600030101010101" pitchFamily="2" charset="-122"/>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fld>
            <a:endParaRPr lang="en-IN"/>
          </a:p>
        </p:txBody>
      </p:sp>
      <p:sp>
        <p:nvSpPr>
          <p:cNvPr id="5" name="Title 1"/>
          <p:cNvSpPr>
            <a:spLocks noGrp="1"/>
          </p:cNvSpPr>
          <p:nvPr>
            <p:ph type="title"/>
          </p:nvPr>
        </p:nvSpPr>
        <p:spPr>
          <a:xfrm>
            <a:off x="1676400" y="980267"/>
            <a:ext cx="10515600" cy="752474"/>
          </a:xfrm>
        </p:spPr>
        <p:txBody>
          <a:bodyPr/>
          <a:lstStyle/>
          <a:p>
            <a:r>
              <a:rPr lang="en-US" altLang="zh-CN" b="1" dirty="0">
                <a:solidFill>
                  <a:srgbClr val="C00000"/>
                </a:solidFill>
                <a:ea typeface="SimSun" panose="02010600030101010101" pitchFamily="2" charset="-122"/>
              </a:rPr>
              <a:t>Management </a:t>
            </a:r>
            <a:r>
              <a:rPr lang="en-US" altLang="zh-CN" sz="3200" b="1" dirty="0">
                <a:solidFill>
                  <a:srgbClr val="C00000"/>
                </a:solidFill>
                <a:ea typeface="SimSun" panose="02010600030101010101" pitchFamily="2" charset="-122"/>
              </a:rPr>
              <a:t>Myths</a:t>
            </a:r>
            <a:r>
              <a:rPr lang="en-US" altLang="zh-CN" b="1" dirty="0">
                <a:solidFill>
                  <a:srgbClr val="C00000"/>
                </a:solidFill>
                <a:ea typeface="SimSun" panose="02010600030101010101" pitchFamily="2" charset="-122"/>
              </a:rPr>
              <a:t> cont..</a:t>
            </a:r>
            <a:endParaRPr lang="en-IN" dirty="0"/>
          </a:p>
        </p:txBody>
      </p:sp>
      <p:sp>
        <p:nvSpPr>
          <p:cNvPr id="6" name="Content Placeholder 2"/>
          <p:cNvSpPr>
            <a:spLocks noGrp="1"/>
          </p:cNvSpPr>
          <p:nvPr>
            <p:ph idx="1"/>
          </p:nvPr>
        </p:nvSpPr>
        <p:spPr>
          <a:xfrm>
            <a:off x="838199" y="2098706"/>
            <a:ext cx="10515600" cy="3779027"/>
          </a:xfrm>
        </p:spPr>
        <p:txBody>
          <a:bodyPr/>
          <a:lstStyle/>
          <a:p>
            <a:pPr marL="0" indent="0" eaLnBrk="1" hangingPunct="1">
              <a:buNone/>
              <a:defRPr/>
            </a:pPr>
            <a:r>
              <a:rPr lang="en-US" altLang="zh-CN" sz="2800" dirty="0">
                <a:latin typeface="Times New Roman" panose="02020603050405020304" pitchFamily="18" charset="0"/>
                <a:ea typeface="SimSun" panose="02010600030101010101" pitchFamily="2" charset="-122"/>
                <a:cs typeface="Times New Roman" panose="02020603050405020304" pitchFamily="18" charset="0"/>
              </a:rPr>
              <a:t> </a:t>
            </a:r>
            <a:r>
              <a:rPr lang="en-US" altLang="zh-CN" sz="2800" b="1" dirty="0">
                <a:latin typeface="Times New Roman" panose="02020603050405020304" pitchFamily="18" charset="0"/>
                <a:ea typeface="SimSun" panose="02010600030101010101" pitchFamily="2" charset="-122"/>
                <a:cs typeface="Times New Roman" panose="02020603050405020304" pitchFamily="18" charset="0"/>
              </a:rPr>
              <a:t>Myth2:</a:t>
            </a:r>
            <a:endParaRPr lang="en-US" altLang="zh-CN" sz="2800" b="1" dirty="0">
              <a:latin typeface="Times New Roman" panose="02020603050405020304" pitchFamily="18" charset="0"/>
              <a:ea typeface="SimSun" panose="02010600030101010101" pitchFamily="2" charset="-122"/>
              <a:cs typeface="Times New Roman" panose="02020603050405020304" pitchFamily="18" charset="0"/>
            </a:endParaRPr>
          </a:p>
          <a:p>
            <a:pPr algn="l" fontAlgn="base"/>
            <a:r>
              <a:rPr lang="en-US" b="0" i="0" dirty="0">
                <a:solidFill>
                  <a:srgbClr val="273239"/>
                </a:solidFill>
                <a:effectLst/>
                <a:latin typeface="Times New Roman" panose="02020603050405020304" pitchFamily="18" charset="0"/>
                <a:cs typeface="Times New Roman" panose="02020603050405020304" pitchFamily="18" charset="0"/>
              </a:rPr>
              <a:t>The addition of the latest hardware programs will improve the software development.</a:t>
            </a:r>
            <a:endParaRPr lang="en-US" b="0" i="0" dirty="0">
              <a:solidFill>
                <a:srgbClr val="273239"/>
              </a:solidFill>
              <a:effectLst/>
              <a:latin typeface="Times New Roman" panose="02020603050405020304" pitchFamily="18" charset="0"/>
              <a:cs typeface="Times New Roman" panose="02020603050405020304" pitchFamily="18" charset="0"/>
            </a:endParaRPr>
          </a:p>
          <a:p>
            <a:pPr marL="0" indent="0" algn="l" fontAlgn="base">
              <a:buNone/>
            </a:pPr>
            <a:r>
              <a:rPr lang="en-US" b="1" i="0" dirty="0">
                <a:solidFill>
                  <a:srgbClr val="273239"/>
                </a:solidFill>
                <a:effectLst/>
                <a:latin typeface="Times New Roman" panose="02020603050405020304" pitchFamily="18" charset="0"/>
                <a:cs typeface="Times New Roman" panose="02020603050405020304" pitchFamily="18" charset="0"/>
              </a:rPr>
              <a:t>Fact:</a:t>
            </a:r>
            <a:endParaRPr lang="en-US" b="1" i="0" dirty="0">
              <a:solidFill>
                <a:srgbClr val="273239"/>
              </a:solidFill>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The role of the latest hardware is not very high on standard software development; instead (CASE: Computer Aided Software Engineering) Engineering tools help the computer, they are more important than hardware to produce quality and productivity.</a:t>
            </a:r>
            <a:endParaRPr lang="en-US" b="0" i="0" dirty="0">
              <a:solidFill>
                <a:srgbClr val="273239"/>
              </a:solidFill>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Hence, the hardware resources are misused.</a:t>
            </a: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fld>
            <a:endParaRPr lang="en-IN"/>
          </a:p>
        </p:txBody>
      </p:sp>
      <p:sp>
        <p:nvSpPr>
          <p:cNvPr id="6" name="TextBox 5"/>
          <p:cNvSpPr txBox="1"/>
          <p:nvPr/>
        </p:nvSpPr>
        <p:spPr>
          <a:xfrm>
            <a:off x="1795549" y="1253435"/>
            <a:ext cx="8013469" cy="646331"/>
          </a:xfrm>
          <a:prstGeom prst="rect">
            <a:avLst/>
          </a:prstGeom>
          <a:noFill/>
        </p:spPr>
        <p:txBody>
          <a:bodyPr wrap="square">
            <a:spAutoFit/>
          </a:bodyPr>
          <a:lstStyle/>
          <a:p>
            <a:r>
              <a:rPr lang="en-US" altLang="zh-CN" sz="3600" b="1" dirty="0">
                <a:solidFill>
                  <a:srgbClr val="C00000"/>
                </a:solidFill>
                <a:ea typeface="SimSun" panose="02010600030101010101" pitchFamily="2" charset="-122"/>
              </a:rPr>
              <a:t>Management Myths cont..</a:t>
            </a:r>
            <a:endParaRPr lang="en-IN" sz="3600" dirty="0"/>
          </a:p>
        </p:txBody>
      </p:sp>
      <p:sp>
        <p:nvSpPr>
          <p:cNvPr id="7" name="Content Placeholder 2"/>
          <p:cNvSpPr>
            <a:spLocks noGrp="1"/>
          </p:cNvSpPr>
          <p:nvPr>
            <p:ph idx="1"/>
          </p:nvPr>
        </p:nvSpPr>
        <p:spPr>
          <a:xfrm>
            <a:off x="1243709" y="2049394"/>
            <a:ext cx="10515600" cy="3704800"/>
          </a:xfrm>
        </p:spPr>
        <p:txBody>
          <a:bodyPr>
            <a:normAutofit fontScale="92500" lnSpcReduction="10000"/>
          </a:bodyPr>
          <a:lstStyle/>
          <a:p>
            <a:pPr>
              <a:buNone/>
            </a:pPr>
            <a:r>
              <a:rPr lang="en-US" sz="2200" b="1" dirty="0">
                <a:latin typeface="Times New Roman" panose="02020603050405020304" pitchFamily="18" charset="0"/>
                <a:cs typeface="Times New Roman" panose="02020603050405020304" pitchFamily="18" charset="0"/>
              </a:rPr>
              <a:t>Case tools can be broadly classed into these broader areas:</a:t>
            </a:r>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Requirement Analysis Tool.</a:t>
            </a:r>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Structure Analysis Tool.</a:t>
            </a:r>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Software Design Tool.</a:t>
            </a:r>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Code Generation Tool.</a:t>
            </a:r>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Test Case Generation Tool.</a:t>
            </a:r>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Document Production Tool.</a:t>
            </a:r>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Reverse Engineering Tool.</a:t>
            </a:r>
            <a:endParaRPr lang="en-US" sz="2200" dirty="0">
              <a:latin typeface="Times New Roman" panose="02020603050405020304" pitchFamily="18" charset="0"/>
              <a:cs typeface="Times New Roman" panose="02020603050405020304" pitchFamily="18" charset="0"/>
            </a:endParaRPr>
          </a:p>
          <a:p>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fld>
            <a:endParaRPr lang="en-IN"/>
          </a:p>
        </p:txBody>
      </p:sp>
      <p:sp>
        <p:nvSpPr>
          <p:cNvPr id="5" name="Content Placeholder 2"/>
          <p:cNvSpPr>
            <a:spLocks noGrp="1"/>
          </p:cNvSpPr>
          <p:nvPr>
            <p:ph idx="1"/>
          </p:nvPr>
        </p:nvSpPr>
        <p:spPr>
          <a:xfrm>
            <a:off x="838200" y="1562793"/>
            <a:ext cx="10515600" cy="4538749"/>
          </a:xfrm>
        </p:spPr>
        <p:txBody>
          <a:bodyPr>
            <a:normAutofit lnSpcReduction="10000"/>
          </a:bodyPr>
          <a:lstStyle/>
          <a:p>
            <a:pPr marL="0" indent="0" algn="l" fontAlgn="base">
              <a:buNone/>
            </a:pPr>
            <a:endParaRPr lang="en-US" b="1" i="0" dirty="0">
              <a:solidFill>
                <a:srgbClr val="273239"/>
              </a:solidFill>
              <a:effectLst/>
              <a:latin typeface="Times New Roman" panose="02020603050405020304" pitchFamily="18" charset="0"/>
              <a:cs typeface="Times New Roman" panose="02020603050405020304" pitchFamily="18" charset="0"/>
            </a:endParaRPr>
          </a:p>
          <a:p>
            <a:pPr marL="0" indent="0" algn="l" fontAlgn="base">
              <a:buNone/>
            </a:pPr>
            <a:r>
              <a:rPr lang="en-US" b="1" i="0" dirty="0">
                <a:solidFill>
                  <a:srgbClr val="273239"/>
                </a:solidFill>
                <a:effectLst/>
                <a:latin typeface="Times New Roman" panose="02020603050405020304" pitchFamily="18" charset="0"/>
                <a:cs typeface="Times New Roman" panose="02020603050405020304" pitchFamily="18" charset="0"/>
              </a:rPr>
              <a:t>Myth 3:</a:t>
            </a:r>
            <a:endParaRPr lang="en-US" b="0" i="0" dirty="0">
              <a:solidFill>
                <a:srgbClr val="273239"/>
              </a:solidFill>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With the addition of more people and program planners to Software development can help meet project deadlines (If lagging behind).</a:t>
            </a:r>
            <a:endParaRPr lang="en-US" b="0" i="0" dirty="0">
              <a:solidFill>
                <a:srgbClr val="273239"/>
              </a:solidFill>
              <a:effectLst/>
              <a:latin typeface="Times New Roman" panose="02020603050405020304" pitchFamily="18" charset="0"/>
              <a:cs typeface="Times New Roman" panose="02020603050405020304" pitchFamily="18" charset="0"/>
            </a:endParaRPr>
          </a:p>
          <a:p>
            <a:pPr marL="0" indent="0" algn="l" fontAlgn="base">
              <a:buNone/>
            </a:pPr>
            <a:r>
              <a:rPr lang="en-US" b="1" i="0" dirty="0">
                <a:solidFill>
                  <a:srgbClr val="273239"/>
                </a:solidFill>
                <a:effectLst/>
                <a:latin typeface="Times New Roman" panose="02020603050405020304" pitchFamily="18" charset="0"/>
                <a:cs typeface="Times New Roman" panose="02020603050405020304" pitchFamily="18" charset="0"/>
              </a:rPr>
              <a:t> Fact: </a:t>
            </a:r>
            <a:endParaRPr lang="en-US" b="1" i="0" dirty="0">
              <a:solidFill>
                <a:srgbClr val="273239"/>
              </a:solidFill>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If software is late, adding more people will merely make the problem worse. This is because the people already working on the project now need to spend time educating the new comers, and are thus taken away from their work.</a:t>
            </a:r>
            <a:endParaRPr lang="en-US" b="0" i="0" dirty="0">
              <a:solidFill>
                <a:srgbClr val="273239"/>
              </a:solidFill>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 The newcomers are also far less productive than the existing software engineers, and so the work put into training them to work on the software does not immediately meet with an appropriate reduction in work.</a:t>
            </a:r>
            <a:endParaRPr lang="en-US" b="0" i="0" dirty="0">
              <a:solidFill>
                <a:srgbClr val="273239"/>
              </a:solidFill>
              <a:effectLst/>
              <a:latin typeface="Times New Roman" panose="02020603050405020304" pitchFamily="18" charset="0"/>
              <a:cs typeface="Times New Roman" panose="02020603050405020304" pitchFamily="18" charset="0"/>
            </a:endParaRPr>
          </a:p>
          <a:p>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fld>
            <a:endParaRPr lang="en-IN"/>
          </a:p>
        </p:txBody>
      </p:sp>
      <p:sp>
        <p:nvSpPr>
          <p:cNvPr id="5" name="Rectangle 2"/>
          <p:cNvSpPr>
            <a:spLocks noGrp="1" noChangeArrowheads="1"/>
          </p:cNvSpPr>
          <p:nvPr>
            <p:ph type="title"/>
          </p:nvPr>
        </p:nvSpPr>
        <p:spPr>
          <a:xfrm>
            <a:off x="3310827" y="1184997"/>
            <a:ext cx="4759325" cy="857250"/>
          </a:xfrm>
        </p:spPr>
        <p:txBody>
          <a:bodyPr/>
          <a:lstStyle/>
          <a:p>
            <a:pPr algn="l" eaLnBrk="1" hangingPunct="1"/>
            <a:r>
              <a:rPr lang="en-US" altLang="zh-CN" b="1" dirty="0">
                <a:solidFill>
                  <a:srgbClr val="C00000"/>
                </a:solidFill>
                <a:ea typeface="SimSun" panose="02010600030101010101" pitchFamily="2" charset="-122"/>
              </a:rPr>
              <a:t>2. Customer Myths</a:t>
            </a:r>
            <a:endParaRPr lang="en-US" altLang="zh-CN" b="1" dirty="0">
              <a:solidFill>
                <a:srgbClr val="C00000"/>
              </a:solidFill>
              <a:ea typeface="SimSun" panose="02010600030101010101" pitchFamily="2" charset="-122"/>
            </a:endParaRPr>
          </a:p>
        </p:txBody>
      </p:sp>
      <p:sp>
        <p:nvSpPr>
          <p:cNvPr id="6" name="Rectangle 3"/>
          <p:cNvSpPr>
            <a:spLocks noGrp="1" noChangeArrowheads="1"/>
          </p:cNvSpPr>
          <p:nvPr>
            <p:ph idx="1"/>
          </p:nvPr>
        </p:nvSpPr>
        <p:spPr>
          <a:xfrm>
            <a:off x="1042220" y="1895303"/>
            <a:ext cx="10097728" cy="4089862"/>
          </a:xfrm>
        </p:spPr>
        <p:txBody>
          <a:bodyPr>
            <a:normAutofit fontScale="47500" lnSpcReduction="20000"/>
          </a:bodyPr>
          <a:lstStyle/>
          <a:p>
            <a:pPr eaLnBrk="1" hangingPunct="1">
              <a:defRPr/>
            </a:pPr>
            <a:r>
              <a:rPr lang="en-US" sz="4500" b="0" i="0" dirty="0">
                <a:solidFill>
                  <a:srgbClr val="273239"/>
                </a:solidFill>
                <a:effectLst/>
                <a:latin typeface="Times New Roman" panose="02020603050405020304" pitchFamily="18" charset="0"/>
                <a:cs typeface="Times New Roman" panose="02020603050405020304" pitchFamily="18" charset="0"/>
              </a:rPr>
              <a:t>The customer can be the direct users of the software, the technical team, marketing / sales department, or other company.</a:t>
            </a:r>
            <a:endParaRPr lang="en-IN" altLang="zh-CN" sz="4500" dirty="0">
              <a:latin typeface="Times New Roman" panose="02020603050405020304" pitchFamily="18" charset="0"/>
              <a:ea typeface="SimSun" panose="02010600030101010101" pitchFamily="2" charset="-122"/>
              <a:cs typeface="Times New Roman" panose="02020603050405020304" pitchFamily="18" charset="0"/>
            </a:endParaRPr>
          </a:p>
          <a:p>
            <a:pPr marL="0" indent="0" eaLnBrk="1" hangingPunct="1">
              <a:buNone/>
              <a:defRPr/>
            </a:pPr>
            <a:r>
              <a:rPr lang="en-IN" altLang="zh-CN" sz="4500" b="1" dirty="0">
                <a:latin typeface="Times New Roman" panose="02020603050405020304" pitchFamily="18" charset="0"/>
                <a:ea typeface="SimSun" panose="02010600030101010101" pitchFamily="2" charset="-122"/>
                <a:cs typeface="Times New Roman" panose="02020603050405020304" pitchFamily="18" charset="0"/>
              </a:rPr>
              <a:t>  Myth1:</a:t>
            </a:r>
            <a:endParaRPr lang="en-IN" altLang="zh-CN" sz="4500" b="1" dirty="0">
              <a:latin typeface="Times New Roman" panose="02020603050405020304" pitchFamily="18" charset="0"/>
              <a:ea typeface="SimSun" panose="02010600030101010101" pitchFamily="2" charset="-122"/>
              <a:cs typeface="Times New Roman" panose="02020603050405020304" pitchFamily="18" charset="0"/>
            </a:endParaRPr>
          </a:p>
          <a:p>
            <a:pPr eaLnBrk="1" hangingPunct="1">
              <a:defRPr/>
            </a:pPr>
            <a:r>
              <a:rPr lang="zh-CN" altLang="en-US" sz="4500" dirty="0">
                <a:latin typeface="Times New Roman" panose="02020603050405020304" pitchFamily="18" charset="0"/>
                <a:ea typeface="SimSun" panose="02010600030101010101" pitchFamily="2" charset="-122"/>
                <a:cs typeface="Times New Roman" panose="02020603050405020304" pitchFamily="18" charset="0"/>
              </a:rPr>
              <a:t>“</a:t>
            </a:r>
            <a:r>
              <a:rPr lang="en-US" altLang="zh-CN" sz="4500" dirty="0">
                <a:latin typeface="Times New Roman" panose="02020603050405020304" pitchFamily="18" charset="0"/>
                <a:ea typeface="SimSun" panose="02010600030101010101" pitchFamily="2" charset="-122"/>
                <a:cs typeface="Times New Roman" panose="02020603050405020304" pitchFamily="18" charset="0"/>
              </a:rPr>
              <a:t>A general statement of objectives is sufficient to begin writing programs - we can fill in the details later …”</a:t>
            </a:r>
            <a:endParaRPr lang="en-US" altLang="zh-CN" sz="4500" dirty="0">
              <a:latin typeface="Times New Roman" panose="02020603050405020304" pitchFamily="18" charset="0"/>
              <a:ea typeface="SimSun" panose="02010600030101010101" pitchFamily="2" charset="-122"/>
              <a:cs typeface="Times New Roman" panose="02020603050405020304" pitchFamily="18" charset="0"/>
            </a:endParaRPr>
          </a:p>
          <a:p>
            <a:pPr marL="0" indent="0" algn="l" fontAlgn="base">
              <a:buNone/>
            </a:pPr>
            <a:r>
              <a:rPr lang="en-US" sz="4500" b="1" i="0" dirty="0">
                <a:solidFill>
                  <a:srgbClr val="273239"/>
                </a:solidFill>
                <a:effectLst/>
                <a:latin typeface="Times New Roman" panose="02020603050405020304" pitchFamily="18" charset="0"/>
                <a:cs typeface="Times New Roman" panose="02020603050405020304" pitchFamily="18" charset="0"/>
              </a:rPr>
              <a:t>  Fact:</a:t>
            </a:r>
            <a:endParaRPr lang="en-US" sz="4500" b="1" i="0" dirty="0">
              <a:solidFill>
                <a:srgbClr val="273239"/>
              </a:solidFill>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sz="4500" b="0" i="0" dirty="0">
                <a:solidFill>
                  <a:srgbClr val="273239"/>
                </a:solidFill>
                <a:effectLst/>
                <a:latin typeface="Times New Roman" panose="02020603050405020304" pitchFamily="18" charset="0"/>
                <a:cs typeface="Times New Roman" panose="02020603050405020304" pitchFamily="18" charset="0"/>
              </a:rPr>
              <a:t>Official and detailed description of the database function, ethical performance, communication, structural issues and the verification process are important.</a:t>
            </a:r>
            <a:endParaRPr lang="en-US" sz="4500" b="0" i="0" dirty="0">
              <a:solidFill>
                <a:srgbClr val="273239"/>
              </a:solidFill>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sz="4500" b="0" i="0" dirty="0">
                <a:solidFill>
                  <a:srgbClr val="273239"/>
                </a:solidFill>
                <a:effectLst/>
                <a:latin typeface="Times New Roman" panose="02020603050405020304" pitchFamily="18" charset="0"/>
                <a:cs typeface="Times New Roman" panose="02020603050405020304" pitchFamily="18" charset="0"/>
              </a:rPr>
              <a:t>Unambiguous requirements (usually derived iteratively) are developed only through effective and continuous communication between customer and developer.</a:t>
            </a:r>
            <a:br>
              <a:rPr lang="en-US" altLang="zh-CN" sz="2200" dirty="0">
                <a:latin typeface="Times New Roman" panose="02020603050405020304" pitchFamily="18" charset="0"/>
                <a:ea typeface="SimSun" panose="02010600030101010101" pitchFamily="2" charset="-122"/>
                <a:cs typeface="Times New Roman" panose="02020603050405020304" pitchFamily="18" charset="0"/>
              </a:rPr>
            </a:br>
            <a:endParaRPr lang="en-US" altLang="zh-CN" sz="2200" dirty="0">
              <a:latin typeface="Times New Roman" panose="02020603050405020304" pitchFamily="18" charset="0"/>
              <a:ea typeface="SimSun" panose="02010600030101010101" pitchFamily="2" charset="-122"/>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1190938"/>
            <a:ext cx="9603275" cy="587136"/>
          </a:xfrm>
        </p:spPr>
        <p:txBody>
          <a:bodyPr/>
          <a:lstStyle/>
          <a:p>
            <a:r>
              <a:rPr lang="en-US" altLang="zh-CN" b="1" dirty="0">
                <a:solidFill>
                  <a:srgbClr val="C00000"/>
                </a:solidFill>
                <a:ea typeface="SimSun" panose="02010600030101010101" pitchFamily="2" charset="-122"/>
              </a:rPr>
              <a:t>Customer Myths </a:t>
            </a:r>
            <a:r>
              <a:rPr lang="en-US" altLang="zh-CN" b="1" dirty="0" err="1">
                <a:solidFill>
                  <a:srgbClr val="C00000"/>
                </a:solidFill>
                <a:ea typeface="SimSun" panose="02010600030101010101" pitchFamily="2" charset="-122"/>
              </a:rPr>
              <a:t>cont</a:t>
            </a:r>
            <a:r>
              <a:rPr lang="en-US" altLang="zh-CN" b="1" dirty="0">
                <a:solidFill>
                  <a:srgbClr val="C00000"/>
                </a:solidFill>
                <a:ea typeface="SimSun" panose="02010600030101010101" pitchFamily="2" charset="-122"/>
              </a:rPr>
              <a:t>…</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fld>
            <a:endParaRPr lang="en-IN"/>
          </a:p>
        </p:txBody>
      </p:sp>
      <p:sp>
        <p:nvSpPr>
          <p:cNvPr id="5" name="Content Placeholder 2"/>
          <p:cNvSpPr>
            <a:spLocks noGrp="1"/>
          </p:cNvSpPr>
          <p:nvPr>
            <p:ph idx="1"/>
          </p:nvPr>
        </p:nvSpPr>
        <p:spPr>
          <a:xfrm>
            <a:off x="1137146" y="1596044"/>
            <a:ext cx="10515600" cy="4580919"/>
          </a:xfrm>
        </p:spPr>
        <p:txBody>
          <a:bodyPr>
            <a:normAutofit lnSpcReduction="10000"/>
          </a:bodyPr>
          <a:lstStyle/>
          <a:p>
            <a:pPr marL="0" indent="0" algn="l" fontAlgn="base">
              <a:buNone/>
            </a:pPr>
            <a:r>
              <a:rPr lang="en-US" b="1" i="0" dirty="0">
                <a:solidFill>
                  <a:srgbClr val="273239"/>
                </a:solidFill>
                <a:effectLst/>
                <a:latin typeface="Times New Roman" panose="02020603050405020304" pitchFamily="18" charset="0"/>
                <a:cs typeface="Times New Roman" panose="02020603050405020304" pitchFamily="18" charset="0"/>
              </a:rPr>
              <a:t> </a:t>
            </a:r>
            <a:endParaRPr lang="en-US" b="1" i="0" dirty="0">
              <a:solidFill>
                <a:srgbClr val="273239"/>
              </a:solidFill>
              <a:effectLst/>
              <a:latin typeface="Times New Roman" panose="02020603050405020304" pitchFamily="18" charset="0"/>
              <a:cs typeface="Times New Roman" panose="02020603050405020304" pitchFamily="18" charset="0"/>
            </a:endParaRPr>
          </a:p>
          <a:p>
            <a:pPr marL="0" indent="0" algn="l" fontAlgn="base">
              <a:buNone/>
            </a:pPr>
            <a:r>
              <a:rPr lang="en-US" b="1" i="0" dirty="0">
                <a:solidFill>
                  <a:srgbClr val="273239"/>
                </a:solidFill>
                <a:effectLst/>
                <a:latin typeface="Times New Roman" panose="02020603050405020304" pitchFamily="18" charset="0"/>
                <a:cs typeface="Times New Roman" panose="02020603050405020304" pitchFamily="18" charset="0"/>
              </a:rPr>
              <a:t>Myth 2:</a:t>
            </a:r>
            <a:endParaRPr lang="en-US" b="0" i="0" dirty="0">
              <a:solidFill>
                <a:srgbClr val="273239"/>
              </a:solidFill>
              <a:effectLst/>
              <a:latin typeface="Times New Roman" panose="02020603050405020304" pitchFamily="18" charset="0"/>
              <a:cs typeface="Times New Roman" panose="02020603050405020304" pitchFamily="18" charset="0"/>
            </a:endParaRPr>
          </a:p>
          <a:p>
            <a:pPr algn="l" fontAlgn="base"/>
            <a:r>
              <a:rPr lang="en-US" b="0" i="0" dirty="0">
                <a:solidFill>
                  <a:srgbClr val="273239"/>
                </a:solidFill>
                <a:effectLst/>
                <a:latin typeface="Times New Roman" panose="02020603050405020304" pitchFamily="18" charset="0"/>
                <a:cs typeface="Times New Roman" panose="02020603050405020304" pitchFamily="18" charset="0"/>
              </a:rPr>
              <a:t>Software requirements continually change, but change can be easily accommodated because software is flexible</a:t>
            </a:r>
            <a:endParaRPr lang="en-US" b="0" i="0" dirty="0">
              <a:solidFill>
                <a:srgbClr val="273239"/>
              </a:solidFill>
              <a:effectLst/>
              <a:latin typeface="Times New Roman" panose="02020603050405020304" pitchFamily="18" charset="0"/>
              <a:cs typeface="Times New Roman" panose="02020603050405020304" pitchFamily="18" charset="0"/>
            </a:endParaRPr>
          </a:p>
          <a:p>
            <a:pPr marL="0" indent="0" algn="l" fontAlgn="base">
              <a:buNone/>
            </a:pPr>
            <a:r>
              <a:rPr lang="en-US" b="1" dirty="0">
                <a:solidFill>
                  <a:srgbClr val="273239"/>
                </a:solidFill>
                <a:latin typeface="Times New Roman" panose="02020603050405020304" pitchFamily="18" charset="0"/>
                <a:cs typeface="Times New Roman" panose="02020603050405020304" pitchFamily="18" charset="0"/>
              </a:rPr>
              <a:t> Fact:</a:t>
            </a:r>
            <a:endParaRPr lang="en-US" b="1" i="0" dirty="0">
              <a:solidFill>
                <a:srgbClr val="273239"/>
              </a:solidFill>
              <a:effectLst/>
              <a:latin typeface="Times New Roman" panose="02020603050405020304" pitchFamily="18" charset="0"/>
              <a:cs typeface="Times New Roman" panose="02020603050405020304" pitchFamily="18" charset="0"/>
            </a:endParaRPr>
          </a:p>
          <a:p>
            <a:r>
              <a:rPr lang="en-US" b="0" i="0" dirty="0">
                <a:solidFill>
                  <a:srgbClr val="273239"/>
                </a:solidFill>
                <a:effectLst/>
                <a:latin typeface="Times New Roman" panose="02020603050405020304" pitchFamily="18" charset="0"/>
                <a:cs typeface="Times New Roman" panose="02020603050405020304" pitchFamily="18" charset="0"/>
              </a:rPr>
              <a:t>It is true that software requirements change, but the impact of change varies with the time at which it is introduced. </a:t>
            </a:r>
            <a:endParaRPr lang="en-US" b="0" i="0" dirty="0">
              <a:solidFill>
                <a:srgbClr val="273239"/>
              </a:solidFill>
              <a:effectLst/>
              <a:latin typeface="Times New Roman" panose="02020603050405020304" pitchFamily="18" charset="0"/>
              <a:cs typeface="Times New Roman" panose="02020603050405020304" pitchFamily="18" charset="0"/>
            </a:endParaRPr>
          </a:p>
          <a:p>
            <a:r>
              <a:rPr lang="en-US" b="0" i="0" dirty="0">
                <a:solidFill>
                  <a:srgbClr val="273239"/>
                </a:solidFill>
                <a:effectLst/>
                <a:latin typeface="Times New Roman" panose="02020603050405020304" pitchFamily="18" charset="0"/>
                <a:cs typeface="Times New Roman" panose="02020603050405020304" pitchFamily="18" charset="0"/>
              </a:rPr>
              <a:t>When requirements changes are requested early (before design or code has been started), the cost impact is relatively small. However, as time passes, the cost impact grows rapidly—resources have been committed, a design framework has been established, and change can cause that require additional resources and major design modification.</a:t>
            </a:r>
            <a:endParaRPr lang="en-US" b="0" i="0" dirty="0">
              <a:solidFill>
                <a:srgbClr val="273239"/>
              </a:solidFill>
              <a:effectLst/>
              <a:latin typeface="Times New Roman" panose="02020603050405020304" pitchFamily="18" charset="0"/>
              <a:cs typeface="Times New Roman" panose="02020603050405020304" pitchFamily="18" charset="0"/>
            </a:endParaRPr>
          </a:p>
          <a:p>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7957" y="1098087"/>
            <a:ext cx="9603275" cy="587136"/>
          </a:xfrm>
        </p:spPr>
        <p:txBody>
          <a:bodyPr/>
          <a:lstStyle/>
          <a:p>
            <a:r>
              <a:rPr lang="en-US" altLang="zh-CN" b="1" dirty="0">
                <a:solidFill>
                  <a:srgbClr val="C00000"/>
                </a:solidFill>
                <a:ea typeface="SimSun" panose="02010600030101010101" pitchFamily="2" charset="-122"/>
              </a:rPr>
              <a:t>Customer Myths </a:t>
            </a:r>
            <a:r>
              <a:rPr lang="en-US" altLang="zh-CN" b="1" dirty="0" err="1">
                <a:solidFill>
                  <a:srgbClr val="C00000"/>
                </a:solidFill>
                <a:ea typeface="SimSun" panose="02010600030101010101" pitchFamily="2" charset="-122"/>
              </a:rPr>
              <a:t>cont</a:t>
            </a:r>
            <a:r>
              <a:rPr lang="en-US" altLang="zh-CN" b="1" dirty="0">
                <a:solidFill>
                  <a:srgbClr val="C00000"/>
                </a:solidFill>
                <a:ea typeface="SimSun" panose="02010600030101010101" pitchFamily="2" charset="-122"/>
              </a:rPr>
              <a:t>…</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fld>
            <a:endParaRPr lang="en-IN"/>
          </a:p>
        </p:txBody>
      </p:sp>
      <p:pic>
        <p:nvPicPr>
          <p:cNvPr id="7" name="Picture 2" descr="Lightbox"/>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1567957" y="2194560"/>
            <a:ext cx="8423941" cy="372076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1029143"/>
            <a:ext cx="9603275" cy="725023"/>
          </a:xfrm>
        </p:spPr>
        <p:txBody>
          <a:bodyPr/>
          <a:lstStyle/>
          <a:p>
            <a:r>
              <a:rPr lang="en-US" altLang="zh-CN" b="1" dirty="0">
                <a:solidFill>
                  <a:srgbClr val="C00000"/>
                </a:solidFill>
                <a:ea typeface="SimSun" panose="02010600030101010101" pitchFamily="2" charset="-122"/>
              </a:rPr>
              <a:t>3. Practitioner</a:t>
            </a:r>
            <a:r>
              <a:rPr lang="en-US" altLang="zh-CN" b="1" dirty="0">
                <a:solidFill>
                  <a:srgbClr val="C00000"/>
                </a:solidFill>
                <a:latin typeface="Palatino" pitchFamily="-128" charset="0"/>
                <a:ea typeface="SimSun" panose="02010600030101010101" pitchFamily="2" charset="-122"/>
              </a:rPr>
              <a:t>’</a:t>
            </a:r>
            <a:r>
              <a:rPr lang="en-US" altLang="zh-CN" b="1" dirty="0">
                <a:solidFill>
                  <a:srgbClr val="C00000"/>
                </a:solidFill>
                <a:ea typeface="SimSun" panose="02010600030101010101" pitchFamily="2" charset="-122"/>
              </a:rPr>
              <a:t>s  Myths</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fld>
            <a:endParaRPr lang="en-IN"/>
          </a:p>
        </p:txBody>
      </p:sp>
      <p:sp>
        <p:nvSpPr>
          <p:cNvPr id="5" name="Rectangle 3"/>
          <p:cNvSpPr>
            <a:spLocks noGrp="1" noChangeArrowheads="1"/>
          </p:cNvSpPr>
          <p:nvPr>
            <p:ph idx="1"/>
          </p:nvPr>
        </p:nvSpPr>
        <p:spPr>
          <a:xfrm>
            <a:off x="1139483" y="1878676"/>
            <a:ext cx="9326787" cy="3950181"/>
          </a:xfrm>
        </p:spPr>
        <p:txBody>
          <a:bodyPr>
            <a:normAutofit/>
          </a:bodyPr>
          <a:lstStyle/>
          <a:p>
            <a:pPr marL="0" indent="0" eaLnBrk="1" hangingPunct="1">
              <a:lnSpc>
                <a:spcPct val="120000"/>
              </a:lnSpc>
              <a:buNone/>
              <a:defRPr/>
            </a:pPr>
            <a:r>
              <a:rPr lang="en-IN" altLang="zh-CN" sz="2200" b="1" dirty="0">
                <a:latin typeface="Times New Roman" panose="02020603050405020304" pitchFamily="18" charset="0"/>
                <a:ea typeface="SimSun" panose="02010600030101010101" pitchFamily="2" charset="-122"/>
                <a:cs typeface="Times New Roman" panose="02020603050405020304" pitchFamily="18" charset="0"/>
              </a:rPr>
              <a:t>Myth1:</a:t>
            </a:r>
            <a:endParaRPr lang="en-IN" altLang="zh-CN" sz="2200" b="1" dirty="0">
              <a:latin typeface="Times New Roman" panose="02020603050405020304" pitchFamily="18" charset="0"/>
              <a:ea typeface="SimSun" panose="02010600030101010101" pitchFamily="2" charset="-122"/>
              <a:cs typeface="Times New Roman" panose="02020603050405020304" pitchFamily="18" charset="0"/>
            </a:endParaRPr>
          </a:p>
          <a:p>
            <a:pPr eaLnBrk="1" hangingPunct="1">
              <a:lnSpc>
                <a:spcPct val="120000"/>
              </a:lnSpc>
              <a:defRPr/>
            </a:pPr>
            <a:r>
              <a:rPr lang="zh-CN" altLang="en-US" sz="2200" dirty="0">
                <a:latin typeface="Times New Roman" panose="02020603050405020304" pitchFamily="18" charset="0"/>
                <a:ea typeface="SimSun" panose="02010600030101010101" pitchFamily="2" charset="-122"/>
                <a:cs typeface="Times New Roman" panose="02020603050405020304" pitchFamily="18" charset="0"/>
              </a:rPr>
              <a:t>“</a:t>
            </a:r>
            <a:r>
              <a:rPr lang="en-US" altLang="zh-CN" sz="2200" dirty="0">
                <a:latin typeface="Times New Roman" panose="02020603050405020304" pitchFamily="18" charset="0"/>
                <a:ea typeface="SimSun" panose="02010600030101010101" pitchFamily="2" charset="-122"/>
                <a:cs typeface="Times New Roman" panose="02020603050405020304" pitchFamily="18" charset="0"/>
              </a:rPr>
              <a:t>Let’s start coding ASAP, because once we write the program and get it to work, our job is done …”</a:t>
            </a:r>
            <a:endParaRPr lang="en-US" altLang="zh-CN" sz="2200" dirty="0">
              <a:latin typeface="Times New Roman" panose="02020603050405020304" pitchFamily="18" charset="0"/>
              <a:ea typeface="SimSun" panose="02010600030101010101" pitchFamily="2" charset="-122"/>
              <a:cs typeface="Times New Roman" panose="02020603050405020304" pitchFamily="18" charset="0"/>
            </a:endParaRPr>
          </a:p>
          <a:p>
            <a:pPr marL="0" indent="0" algn="l" fontAlgn="base">
              <a:buNone/>
            </a:pPr>
            <a:r>
              <a:rPr lang="en-US" sz="2200" b="1" i="0" dirty="0">
                <a:solidFill>
                  <a:srgbClr val="273239"/>
                </a:solidFill>
                <a:effectLst/>
                <a:latin typeface="Times New Roman" panose="02020603050405020304" pitchFamily="18" charset="0"/>
                <a:cs typeface="Times New Roman" panose="02020603050405020304" pitchFamily="18" charset="0"/>
              </a:rPr>
              <a:t> Fact:</a:t>
            </a:r>
            <a:endParaRPr lang="en-US" sz="2200" b="1" i="0" dirty="0">
              <a:solidFill>
                <a:srgbClr val="273239"/>
              </a:solidFill>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sz="2200" b="0" i="0" dirty="0">
                <a:solidFill>
                  <a:srgbClr val="273239"/>
                </a:solidFill>
                <a:effectLst/>
                <a:latin typeface="Times New Roman" panose="02020603050405020304" pitchFamily="18" charset="0"/>
                <a:cs typeface="Times New Roman" panose="02020603050405020304" pitchFamily="18" charset="0"/>
              </a:rPr>
              <a:t>It is true that every 60-80% effort goes into the maintenance phase (as of the latter software release).</a:t>
            </a:r>
            <a:endParaRPr lang="en-US" sz="2200" b="0" i="0" dirty="0">
              <a:solidFill>
                <a:srgbClr val="273239"/>
              </a:solidFill>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sz="2200" b="0" i="0" dirty="0">
                <a:solidFill>
                  <a:srgbClr val="273239"/>
                </a:solidFill>
                <a:effectLst/>
                <a:latin typeface="Times New Roman" panose="02020603050405020304" pitchFamily="18" charset="0"/>
                <a:cs typeface="Times New Roman" panose="02020603050405020304" pitchFamily="18" charset="0"/>
              </a:rPr>
              <a:t> Efforts are required, where the product is available first delivered to customers.</a:t>
            </a:r>
            <a:endParaRPr lang="en-US" sz="2200" b="0" i="0" dirty="0">
              <a:solidFill>
                <a:srgbClr val="273239"/>
              </a:solidFill>
              <a:effectLst/>
              <a:latin typeface="Times New Roman" panose="02020603050405020304" pitchFamily="18" charset="0"/>
              <a:cs typeface="Times New Roman" panose="02020603050405020304" pitchFamily="18" charset="0"/>
            </a:endParaRPr>
          </a:p>
          <a:p>
            <a:pPr marL="0" indent="0" eaLnBrk="1" hangingPunct="1">
              <a:lnSpc>
                <a:spcPct val="120000"/>
              </a:lnSpc>
              <a:buNone/>
              <a:defRPr/>
            </a:pPr>
            <a:endParaRPr lang="en-US" altLang="zh-CN" dirty="0">
              <a:latin typeface="Times New Roman" panose="02020603050405020304" pitchFamily="18" charset="0"/>
              <a:ea typeface="SimSun" panose="02010600030101010101" pitchFamily="2" charset="-122"/>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1190938"/>
            <a:ext cx="9603275" cy="587136"/>
          </a:xfrm>
        </p:spPr>
        <p:txBody>
          <a:bodyPr/>
          <a:lstStyle/>
          <a:p>
            <a:r>
              <a:rPr lang="en-US" altLang="zh-CN" sz="3200" b="1" dirty="0">
                <a:solidFill>
                  <a:srgbClr val="C00000"/>
                </a:solidFill>
                <a:ea typeface="SimSun" panose="02010600030101010101" pitchFamily="2" charset="-122"/>
              </a:rPr>
              <a:t>Practitioner</a:t>
            </a:r>
            <a:r>
              <a:rPr lang="en-US" altLang="zh-CN" sz="3200" b="1" dirty="0">
                <a:solidFill>
                  <a:srgbClr val="C00000"/>
                </a:solidFill>
                <a:latin typeface="Palatino" pitchFamily="-128" charset="0"/>
                <a:ea typeface="SimSun" panose="02010600030101010101" pitchFamily="2" charset="-122"/>
              </a:rPr>
              <a:t>’</a:t>
            </a:r>
            <a:r>
              <a:rPr lang="en-US" altLang="zh-CN" sz="3200" b="1" dirty="0">
                <a:solidFill>
                  <a:srgbClr val="C00000"/>
                </a:solidFill>
                <a:ea typeface="SimSun" panose="02010600030101010101" pitchFamily="2" charset="-122"/>
              </a:rPr>
              <a:t>s  Myths cont..</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fld>
            <a:endParaRPr lang="en-IN"/>
          </a:p>
        </p:txBody>
      </p:sp>
      <p:sp>
        <p:nvSpPr>
          <p:cNvPr id="5" name="Content Placeholder 2"/>
          <p:cNvSpPr>
            <a:spLocks noGrp="1"/>
          </p:cNvSpPr>
          <p:nvPr>
            <p:ph idx="1"/>
          </p:nvPr>
        </p:nvSpPr>
        <p:spPr>
          <a:xfrm>
            <a:off x="665018" y="1529542"/>
            <a:ext cx="11196782" cy="4647421"/>
          </a:xfrm>
        </p:spPr>
        <p:txBody>
          <a:bodyPr>
            <a:normAutofit fontScale="85000" lnSpcReduction="20000"/>
          </a:bodyPr>
          <a:lstStyle/>
          <a:p>
            <a:pPr marL="0" indent="0" algn="l" fontAlgn="base">
              <a:buNone/>
            </a:pPr>
            <a:endParaRPr lang="en-US" sz="2400" b="1" i="0" dirty="0">
              <a:solidFill>
                <a:srgbClr val="273239"/>
              </a:solidFill>
              <a:effectLst/>
              <a:latin typeface="Times New Roman" panose="02020603050405020304" pitchFamily="18" charset="0"/>
              <a:cs typeface="Times New Roman" panose="02020603050405020304" pitchFamily="18" charset="0"/>
            </a:endParaRPr>
          </a:p>
          <a:p>
            <a:pPr marL="0" indent="0" algn="l" fontAlgn="base">
              <a:buNone/>
            </a:pPr>
            <a:r>
              <a:rPr lang="en-US" sz="2400" b="1" i="0" dirty="0">
                <a:solidFill>
                  <a:srgbClr val="273239"/>
                </a:solidFill>
                <a:effectLst/>
                <a:latin typeface="Times New Roman" panose="02020603050405020304" pitchFamily="18" charset="0"/>
                <a:cs typeface="Times New Roman" panose="02020603050405020304" pitchFamily="18" charset="0"/>
              </a:rPr>
              <a:t>Myth 2:</a:t>
            </a:r>
            <a:endParaRPr lang="en-US" sz="2400" b="0" i="0" dirty="0">
              <a:solidFill>
                <a:srgbClr val="273239"/>
              </a:solidFill>
              <a:effectLst/>
              <a:latin typeface="Times New Roman" panose="02020603050405020304" pitchFamily="18" charset="0"/>
              <a:cs typeface="Times New Roman" panose="02020603050405020304" pitchFamily="18" charset="0"/>
            </a:endParaRPr>
          </a:p>
          <a:p>
            <a:pPr algn="l" fontAlgn="base"/>
            <a:r>
              <a:rPr lang="en-US" sz="2400" b="0" i="0" dirty="0">
                <a:solidFill>
                  <a:srgbClr val="273239"/>
                </a:solidFill>
                <a:effectLst/>
                <a:latin typeface="Times New Roman" panose="02020603050405020304" pitchFamily="18" charset="0"/>
                <a:cs typeface="Times New Roman" panose="02020603050405020304" pitchFamily="18" charset="0"/>
              </a:rPr>
              <a:t>There is no other way to achieve system quality, until it is “running”.</a:t>
            </a:r>
            <a:endParaRPr lang="en-US" sz="2400" b="0" i="0" dirty="0">
              <a:solidFill>
                <a:srgbClr val="273239"/>
              </a:solidFill>
              <a:effectLst/>
              <a:latin typeface="Times New Roman" panose="02020603050405020304" pitchFamily="18" charset="0"/>
              <a:cs typeface="Times New Roman" panose="02020603050405020304" pitchFamily="18" charset="0"/>
            </a:endParaRPr>
          </a:p>
          <a:p>
            <a:pPr marL="0" indent="0" algn="l" fontAlgn="base">
              <a:buNone/>
            </a:pPr>
            <a:r>
              <a:rPr lang="en-US" sz="2400" b="1" i="0" dirty="0">
                <a:solidFill>
                  <a:srgbClr val="273239"/>
                </a:solidFill>
                <a:effectLst/>
                <a:latin typeface="Times New Roman" panose="02020603050405020304" pitchFamily="18" charset="0"/>
                <a:cs typeface="Times New Roman" panose="02020603050405020304" pitchFamily="18" charset="0"/>
              </a:rPr>
              <a:t>  Fact:</a:t>
            </a:r>
            <a:endParaRPr lang="en-US" sz="2400" b="1" i="0" dirty="0">
              <a:solidFill>
                <a:srgbClr val="273239"/>
              </a:solidFill>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sz="2400" b="0" i="0" dirty="0">
                <a:solidFill>
                  <a:srgbClr val="273239"/>
                </a:solidFill>
                <a:effectLst/>
                <a:latin typeface="Times New Roman" panose="02020603050405020304" pitchFamily="18" charset="0"/>
                <a:cs typeface="Times New Roman" panose="02020603050405020304" pitchFamily="18" charset="0"/>
              </a:rPr>
              <a:t>Systematic review of project technology is the quality of effective software verification method. These updates are quality filters and more accessible than test.</a:t>
            </a:r>
            <a:endParaRPr lang="en-US" sz="2400" b="0" i="0" dirty="0">
              <a:solidFill>
                <a:srgbClr val="273239"/>
              </a:solidFill>
              <a:effectLst/>
              <a:latin typeface="Times New Roman" panose="02020603050405020304" pitchFamily="18" charset="0"/>
              <a:cs typeface="Times New Roman" panose="02020603050405020304" pitchFamily="18" charset="0"/>
            </a:endParaRPr>
          </a:p>
          <a:p>
            <a:pPr marL="0" indent="0" algn="l" fontAlgn="base">
              <a:buNone/>
            </a:pPr>
            <a:r>
              <a:rPr lang="en-US" sz="2400" b="1" i="0" dirty="0">
                <a:solidFill>
                  <a:srgbClr val="273239"/>
                </a:solidFill>
                <a:effectLst/>
                <a:latin typeface="Times New Roman" panose="02020603050405020304" pitchFamily="18" charset="0"/>
                <a:cs typeface="Times New Roman" panose="02020603050405020304" pitchFamily="18" charset="0"/>
              </a:rPr>
              <a:t> Myth 3:</a:t>
            </a:r>
            <a:endParaRPr lang="en-US" sz="2400" b="0" i="0" dirty="0">
              <a:solidFill>
                <a:srgbClr val="273239"/>
              </a:solidFill>
              <a:effectLst/>
              <a:latin typeface="Times New Roman" panose="02020603050405020304" pitchFamily="18" charset="0"/>
              <a:cs typeface="Times New Roman" panose="02020603050405020304" pitchFamily="18" charset="0"/>
            </a:endParaRPr>
          </a:p>
          <a:p>
            <a:pPr algn="l" fontAlgn="base"/>
            <a:r>
              <a:rPr lang="en-US" sz="2400" b="0" i="0" dirty="0">
                <a:solidFill>
                  <a:srgbClr val="273239"/>
                </a:solidFill>
                <a:effectLst/>
                <a:latin typeface="Times New Roman" panose="02020603050405020304" pitchFamily="18" charset="0"/>
                <a:cs typeface="Times New Roman" panose="02020603050405020304" pitchFamily="18" charset="0"/>
              </a:rPr>
              <a:t>An operating system is the only product that can be successfully exported project.</a:t>
            </a:r>
            <a:endParaRPr lang="en-US" sz="2400" b="0" i="0" dirty="0">
              <a:solidFill>
                <a:srgbClr val="273239"/>
              </a:solidFill>
              <a:effectLst/>
              <a:latin typeface="Times New Roman" panose="02020603050405020304" pitchFamily="18" charset="0"/>
              <a:cs typeface="Times New Roman" panose="02020603050405020304" pitchFamily="18" charset="0"/>
            </a:endParaRPr>
          </a:p>
          <a:p>
            <a:pPr marL="0" indent="0" algn="l" fontAlgn="base">
              <a:buNone/>
            </a:pPr>
            <a:r>
              <a:rPr lang="en-US" sz="2400" b="1" i="0" dirty="0">
                <a:solidFill>
                  <a:srgbClr val="273239"/>
                </a:solidFill>
                <a:effectLst/>
                <a:latin typeface="Times New Roman" panose="02020603050405020304" pitchFamily="18" charset="0"/>
                <a:cs typeface="Times New Roman" panose="02020603050405020304" pitchFamily="18" charset="0"/>
              </a:rPr>
              <a:t>  Fact:</a:t>
            </a:r>
            <a:endParaRPr lang="en-US" sz="2400" b="1" i="0" dirty="0">
              <a:solidFill>
                <a:srgbClr val="273239"/>
              </a:solidFill>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sz="2400" b="0" i="0" dirty="0">
                <a:solidFill>
                  <a:srgbClr val="273239"/>
                </a:solidFill>
                <a:effectLst/>
                <a:latin typeface="Times New Roman" panose="02020603050405020304" pitchFamily="18" charset="0"/>
                <a:cs typeface="Times New Roman" panose="02020603050405020304" pitchFamily="18" charset="0"/>
              </a:rPr>
              <a:t>A working system is not enough, the right document brochures and booklets are also required to provide guidance &amp; software support.</a:t>
            </a:r>
            <a:endParaRPr lang="en-US" sz="2400" b="0" i="0" dirty="0">
              <a:solidFill>
                <a:srgbClr val="273239"/>
              </a:solidFill>
              <a:effectLst/>
              <a:latin typeface="Times New Roman" panose="02020603050405020304" pitchFamily="18" charset="0"/>
              <a:cs typeface="Times New Roman" panose="02020603050405020304" pitchFamily="18" charset="0"/>
            </a:endParaRPr>
          </a:p>
          <a:p>
            <a:pPr marL="0" indent="0" eaLnBrk="1" hangingPunct="1">
              <a:lnSpc>
                <a:spcPct val="120000"/>
              </a:lnSpc>
              <a:buNone/>
              <a:defRPr/>
            </a:pPr>
            <a:endParaRPr lang="en-US" altLang="zh-CN" sz="2800" dirty="0">
              <a:ea typeface="SimSun"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9871" y="1190938"/>
            <a:ext cx="9603275" cy="587136"/>
          </a:xfrm>
        </p:spPr>
        <p:txBody>
          <a:bodyPr/>
          <a:lstStyle/>
          <a:p>
            <a:r>
              <a:rPr lang="en-US" altLang="zh-CN" b="1" dirty="0">
                <a:solidFill>
                  <a:srgbClr val="C00000"/>
                </a:solidFill>
                <a:ea typeface="SimSun" panose="02010600030101010101" pitchFamily="2" charset="-122"/>
              </a:rPr>
              <a:t>Practitioner</a:t>
            </a:r>
            <a:r>
              <a:rPr lang="en-US" altLang="zh-CN" b="1" dirty="0">
                <a:solidFill>
                  <a:srgbClr val="C00000"/>
                </a:solidFill>
                <a:latin typeface="Palatino" pitchFamily="-128" charset="0"/>
                <a:ea typeface="SimSun" panose="02010600030101010101" pitchFamily="2" charset="-122"/>
              </a:rPr>
              <a:t>’</a:t>
            </a:r>
            <a:r>
              <a:rPr lang="en-US" altLang="zh-CN" b="1" dirty="0">
                <a:solidFill>
                  <a:srgbClr val="C00000"/>
                </a:solidFill>
                <a:ea typeface="SimSun" panose="02010600030101010101" pitchFamily="2" charset="-122"/>
              </a:rPr>
              <a:t>s  Myths cont..</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fld>
            <a:endParaRPr lang="en-IN"/>
          </a:p>
        </p:txBody>
      </p:sp>
      <p:sp>
        <p:nvSpPr>
          <p:cNvPr id="5" name="Content Placeholder 2"/>
          <p:cNvSpPr>
            <a:spLocks noGrp="1"/>
          </p:cNvSpPr>
          <p:nvPr>
            <p:ph idx="1"/>
          </p:nvPr>
        </p:nvSpPr>
        <p:spPr>
          <a:xfrm>
            <a:off x="838200" y="1778074"/>
            <a:ext cx="10515600" cy="3658450"/>
          </a:xfrm>
        </p:spPr>
        <p:txBody>
          <a:bodyPr>
            <a:normAutofit lnSpcReduction="10000"/>
          </a:bodyPr>
          <a:lstStyle/>
          <a:p>
            <a:pPr marL="0" indent="0" algn="l" fontAlgn="base">
              <a:buNone/>
            </a:pPr>
            <a:endParaRPr lang="en-US" b="1" i="0" dirty="0">
              <a:solidFill>
                <a:srgbClr val="273239"/>
              </a:solidFill>
              <a:effectLst/>
              <a:latin typeface="urw-din"/>
            </a:endParaRPr>
          </a:p>
          <a:p>
            <a:pPr marL="0" indent="0" algn="l" fontAlgn="base">
              <a:buNone/>
            </a:pPr>
            <a:r>
              <a:rPr lang="en-US" sz="2200" b="1" i="0" dirty="0">
                <a:solidFill>
                  <a:srgbClr val="273239"/>
                </a:solidFill>
                <a:effectLst/>
                <a:latin typeface="urw-din"/>
              </a:rPr>
              <a:t>Myth 4: </a:t>
            </a:r>
            <a:endParaRPr lang="en-US" sz="2200" b="0" i="0" dirty="0">
              <a:solidFill>
                <a:srgbClr val="273239"/>
              </a:solidFill>
              <a:effectLst/>
              <a:latin typeface="urw-din"/>
            </a:endParaRPr>
          </a:p>
          <a:p>
            <a:pPr algn="l" fontAlgn="base"/>
            <a:r>
              <a:rPr lang="en-US" sz="2200" b="0" i="0" dirty="0">
                <a:solidFill>
                  <a:srgbClr val="273239"/>
                </a:solidFill>
                <a:effectLst/>
                <a:latin typeface="urw-din"/>
              </a:rPr>
              <a:t>Engineering software will enable us to build powerful and unnecessary document &amp; always delay us.</a:t>
            </a:r>
            <a:endParaRPr lang="en-US" sz="2200" b="0" i="0" dirty="0">
              <a:solidFill>
                <a:srgbClr val="273239"/>
              </a:solidFill>
              <a:effectLst/>
              <a:latin typeface="urw-din"/>
            </a:endParaRPr>
          </a:p>
          <a:p>
            <a:pPr marL="0" indent="0" algn="l" fontAlgn="base">
              <a:buNone/>
            </a:pPr>
            <a:r>
              <a:rPr lang="en-US" sz="2200" b="1" i="0" dirty="0">
                <a:solidFill>
                  <a:srgbClr val="273239"/>
                </a:solidFill>
                <a:effectLst/>
                <a:latin typeface="urw-din"/>
              </a:rPr>
              <a:t> Fact: </a:t>
            </a:r>
            <a:endParaRPr lang="en-US" sz="2200" b="1" i="0" dirty="0">
              <a:solidFill>
                <a:srgbClr val="273239"/>
              </a:solidFill>
              <a:effectLst/>
              <a:latin typeface="urw-din"/>
            </a:endParaRPr>
          </a:p>
          <a:p>
            <a:pPr algn="l" fontAlgn="base">
              <a:buFont typeface="Arial" panose="020B0604020202020204" pitchFamily="34" charset="0"/>
              <a:buChar char="•"/>
            </a:pPr>
            <a:r>
              <a:rPr lang="en-US" sz="2200" b="0" i="0" dirty="0">
                <a:solidFill>
                  <a:srgbClr val="273239"/>
                </a:solidFill>
                <a:effectLst/>
                <a:latin typeface="urw-din"/>
              </a:rPr>
              <a:t>Software engineering is not about creating documents. It is about creating a quality product. Better quality leads to reduced rework. And reduced rework results in faster delivery times</a:t>
            </a:r>
            <a:endParaRPr lang="en-US" sz="2200" b="0" i="0" dirty="0">
              <a:solidFill>
                <a:srgbClr val="273239"/>
              </a:solidFill>
              <a:effectLst/>
              <a:latin typeface="urw-din"/>
            </a:endParaRPr>
          </a:p>
          <a:p>
            <a:endParaRPr lang="en-I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1203353"/>
            <a:ext cx="9603275" cy="567081"/>
          </a:xfrm>
        </p:spPr>
        <p:txBody>
          <a:bodyPr/>
          <a:lstStyle/>
          <a:p>
            <a:r>
              <a:rPr lang="en-US" sz="3000" b="1" dirty="0">
                <a:solidFill>
                  <a:srgbClr val="C00000"/>
                </a:solidFill>
                <a:latin typeface="Times New Roman" panose="02020603050405020304" pitchFamily="18" charset="0"/>
                <a:ea typeface="+mn-ea"/>
                <a:cs typeface="Times New Roman" panose="02020603050405020304" pitchFamily="18" charset="0"/>
              </a:rPr>
              <a:t>SELF-ASSESSMENT QUESTIONS</a:t>
            </a:r>
            <a:endParaRPr lang="en-IN" sz="3000" b="1" dirty="0">
              <a:solidFill>
                <a:srgbClr val="C00000"/>
              </a:solidFill>
              <a:latin typeface="Times New Roman" panose="02020603050405020304" pitchFamily="18" charset="0"/>
              <a:ea typeface="+mn-ea"/>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CBABCCC1-BF11-4F37-963E-1BCD5B23FD72}" type="slidenum">
              <a:rPr lang="en-IN" smtClean="0"/>
            </a:fld>
            <a:endParaRPr lang="en-IN"/>
          </a:p>
        </p:txBody>
      </p:sp>
      <p:sp>
        <p:nvSpPr>
          <p:cNvPr id="3" name="TextBox 2"/>
          <p:cNvSpPr txBox="1"/>
          <p:nvPr/>
        </p:nvSpPr>
        <p:spPr>
          <a:xfrm>
            <a:off x="1513546" y="1838519"/>
            <a:ext cx="9541308" cy="4384534"/>
          </a:xfrm>
          <a:prstGeom prst="rect">
            <a:avLst/>
          </a:prstGeom>
          <a:noFill/>
        </p:spPr>
        <p:txBody>
          <a:bodyPr wrap="square">
            <a:spAutoFit/>
          </a:bodyPr>
          <a:lstStyle/>
          <a:p>
            <a:pPr>
              <a:lnSpc>
                <a:spcPct val="120000"/>
              </a:lnSpc>
              <a:buNone/>
            </a:pPr>
            <a:r>
              <a:rPr lang="en-US" dirty="0">
                <a:latin typeface="Times New Roman" panose="02020603050405020304" pitchFamily="18" charset="0"/>
                <a:cs typeface="Times New Roman" panose="02020603050405020304" pitchFamily="18" charset="0"/>
              </a:rPr>
              <a:t>1. Define Software Engineering.</a:t>
            </a:r>
            <a:endParaRPr lang="en-US" dirty="0">
              <a:latin typeface="Times New Roman" panose="02020603050405020304" pitchFamily="18" charset="0"/>
              <a:cs typeface="Times New Roman" panose="02020603050405020304" pitchFamily="18" charset="0"/>
            </a:endParaRPr>
          </a:p>
          <a:p>
            <a:pPr>
              <a:lnSpc>
                <a:spcPct val="120000"/>
              </a:lnSpc>
              <a:buNone/>
            </a:pPr>
            <a:r>
              <a:rPr lang="en-US" dirty="0">
                <a:latin typeface="Times New Roman" panose="02020603050405020304" pitchFamily="18" charset="0"/>
                <a:cs typeface="Times New Roman" panose="02020603050405020304" pitchFamily="18" charset="0"/>
              </a:rPr>
              <a:t>2. What is the need of Umbrella Activities.</a:t>
            </a:r>
            <a:endParaRPr lang="en-US" dirty="0">
              <a:latin typeface="Times New Roman" panose="02020603050405020304" pitchFamily="18" charset="0"/>
              <a:cs typeface="Times New Roman" panose="02020603050405020304" pitchFamily="18" charset="0"/>
            </a:endParaRPr>
          </a:p>
          <a:p>
            <a:pPr>
              <a:lnSpc>
                <a:spcPct val="120000"/>
              </a:lnSpc>
              <a:buNone/>
            </a:pPr>
            <a:r>
              <a:rPr lang="en-US" dirty="0">
                <a:latin typeface="Times New Roman" panose="02020603050405020304" pitchFamily="18" charset="0"/>
                <a:cs typeface="Times New Roman" panose="02020603050405020304" pitchFamily="18" charset="0"/>
              </a:rPr>
              <a:t>3. What are different Layers of Software Engineering.</a:t>
            </a:r>
            <a:endParaRPr lang="en-US" dirty="0">
              <a:latin typeface="Times New Roman" panose="02020603050405020304" pitchFamily="18" charset="0"/>
              <a:cs typeface="Times New Roman" panose="02020603050405020304" pitchFamily="18" charset="0"/>
            </a:endParaRPr>
          </a:p>
          <a:p>
            <a:pPr>
              <a:lnSpc>
                <a:spcPct val="120000"/>
              </a:lnSpc>
              <a:buNone/>
            </a:pPr>
            <a:r>
              <a:rPr lang="en-US" dirty="0">
                <a:latin typeface="Times New Roman" panose="02020603050405020304" pitchFamily="18" charset="0"/>
                <a:cs typeface="Times New Roman" panose="02020603050405020304" pitchFamily="18" charset="0"/>
              </a:rPr>
              <a:t>4. What are </a:t>
            </a:r>
            <a:r>
              <a:rPr lang="en-US" dirty="0">
                <a:latin typeface="Times New Roman" panose="02020603050405020304" pitchFamily="18" charset="0"/>
                <a:ea typeface="MS PGothic" panose="020B0600070205080204" pitchFamily="34" charset="-128"/>
                <a:cs typeface="Times New Roman" panose="02020603050405020304" pitchFamily="18" charset="0"/>
              </a:rPr>
              <a:t>Process framework Activities.</a:t>
            </a:r>
            <a:endParaRPr lang="en-US" dirty="0">
              <a:latin typeface="Times New Roman" panose="02020603050405020304" pitchFamily="18" charset="0"/>
              <a:ea typeface="MS PGothic" panose="020B0600070205080204" pitchFamily="34" charset="-128"/>
              <a:cs typeface="Times New Roman" panose="02020603050405020304" pitchFamily="18" charset="0"/>
            </a:endParaRPr>
          </a:p>
          <a:p>
            <a:pPr>
              <a:lnSpc>
                <a:spcPct val="120000"/>
              </a:lnSpc>
              <a:buNone/>
            </a:pPr>
            <a:r>
              <a:rPr lang="en-US" dirty="0">
                <a:latin typeface="Times New Roman" panose="02020603050405020304" pitchFamily="18" charset="0"/>
                <a:ea typeface="MS PGothic" panose="020B0600070205080204" pitchFamily="34" charset="-128"/>
                <a:cs typeface="Times New Roman" panose="02020603050405020304" pitchFamily="18" charset="0"/>
              </a:rPr>
              <a:t>5. What are different activities comes under </a:t>
            </a:r>
            <a:r>
              <a:rPr lang="en-US" dirty="0">
                <a:latin typeface="Times New Roman" panose="02020603050405020304" pitchFamily="18" charset="0"/>
                <a:cs typeface="Times New Roman" panose="02020603050405020304" pitchFamily="18" charset="0"/>
              </a:rPr>
              <a:t>Modeling face.</a:t>
            </a:r>
            <a:endParaRPr lang="en-US" dirty="0">
              <a:latin typeface="Times New Roman" panose="02020603050405020304" pitchFamily="18" charset="0"/>
              <a:cs typeface="Times New Roman" panose="02020603050405020304" pitchFamily="18" charset="0"/>
            </a:endParaRPr>
          </a:p>
          <a:p>
            <a:pPr>
              <a:lnSpc>
                <a:spcPct val="120000"/>
              </a:lnSpc>
              <a:buNone/>
            </a:pPr>
            <a:r>
              <a:rPr lang="en-US" dirty="0">
                <a:latin typeface="Times New Roman" panose="02020603050405020304" pitchFamily="18" charset="0"/>
                <a:cs typeface="Times New Roman" panose="02020603050405020304" pitchFamily="18" charset="0"/>
              </a:rPr>
              <a:t>6. Need of </a:t>
            </a:r>
            <a:r>
              <a:rPr lang="en-US" dirty="0">
                <a:latin typeface="Times New Roman" panose="02020603050405020304" pitchFamily="18" charset="0"/>
                <a:ea typeface="MS PGothic" panose="020B0600070205080204" pitchFamily="34" charset="-128"/>
                <a:cs typeface="Times New Roman" panose="02020603050405020304" pitchFamily="18" charset="0"/>
              </a:rPr>
              <a:t>Technical reviews in software development.</a:t>
            </a:r>
            <a:endParaRPr lang="en-US" dirty="0">
              <a:latin typeface="Times New Roman" panose="02020603050405020304" pitchFamily="18" charset="0"/>
              <a:ea typeface="MS PGothic" panose="020B0600070205080204" pitchFamily="34" charset="-128"/>
              <a:cs typeface="Times New Roman" panose="02020603050405020304" pitchFamily="18" charset="0"/>
            </a:endParaRPr>
          </a:p>
          <a:p>
            <a:pPr>
              <a:lnSpc>
                <a:spcPct val="120000"/>
              </a:lnSpc>
              <a:buNone/>
            </a:pPr>
            <a:r>
              <a:rPr lang="en-US" dirty="0">
                <a:latin typeface="Times New Roman" panose="02020603050405020304" pitchFamily="18" charset="0"/>
                <a:ea typeface="MS PGothic" panose="020B0600070205080204" pitchFamily="34" charset="-128"/>
                <a:cs typeface="Times New Roman" panose="02020603050405020304" pitchFamily="18" charset="0"/>
              </a:rPr>
              <a:t>7. Need of Reusability management in software development process.</a:t>
            </a:r>
            <a:endParaRPr lang="en-US" dirty="0">
              <a:latin typeface="Times New Roman" panose="02020603050405020304" pitchFamily="18" charset="0"/>
              <a:cs typeface="Times New Roman" panose="02020603050405020304" pitchFamily="18" charset="0"/>
            </a:endParaRPr>
          </a:p>
          <a:p>
            <a:pPr>
              <a:lnSpc>
                <a:spcPct val="120000"/>
              </a:lnSpc>
              <a:buNone/>
            </a:pPr>
            <a:r>
              <a:rPr lang="en-US" dirty="0">
                <a:latin typeface="Times New Roman" panose="02020603050405020304" pitchFamily="18" charset="0"/>
                <a:cs typeface="Times New Roman" panose="02020603050405020304" pitchFamily="18" charset="0"/>
              </a:rPr>
              <a:t>8. </a:t>
            </a:r>
            <a:r>
              <a:rPr lang="en-US" dirty="0">
                <a:latin typeface="Times New Roman" panose="02020603050405020304" pitchFamily="18" charset="0"/>
                <a:ea typeface="MS PGothic" panose="020B0600070205080204" pitchFamily="34" charset="-128"/>
                <a:cs typeface="Times New Roman" panose="02020603050405020304" pitchFamily="18" charset="0"/>
              </a:rPr>
              <a:t>Need of Software quality assurance in software development process. </a:t>
            </a:r>
            <a:endParaRPr lang="en-US" dirty="0">
              <a:latin typeface="Times New Roman" panose="02020603050405020304" pitchFamily="18" charset="0"/>
              <a:ea typeface="MS PGothic" panose="020B0600070205080204" pitchFamily="34" charset="-128"/>
              <a:cs typeface="Times New Roman" panose="02020603050405020304" pitchFamily="18" charset="0"/>
            </a:endParaRPr>
          </a:p>
          <a:p>
            <a:pPr>
              <a:lnSpc>
                <a:spcPct val="120000"/>
              </a:lnSpc>
              <a:buNone/>
            </a:pPr>
            <a:r>
              <a:rPr lang="en-US" dirty="0">
                <a:latin typeface="Times New Roman" panose="02020603050405020304" pitchFamily="18" charset="0"/>
                <a:cs typeface="Times New Roman" panose="02020603050405020304" pitchFamily="18" charset="0"/>
              </a:rPr>
              <a:t>9. Define Myth ?</a:t>
            </a:r>
            <a:endParaRPr lang="en-US" dirty="0">
              <a:latin typeface="Times New Roman" panose="02020603050405020304" pitchFamily="18" charset="0"/>
              <a:cs typeface="Times New Roman" panose="02020603050405020304" pitchFamily="18" charset="0"/>
            </a:endParaRPr>
          </a:p>
          <a:p>
            <a:pPr>
              <a:lnSpc>
                <a:spcPct val="120000"/>
              </a:lnSpc>
              <a:buNone/>
            </a:pPr>
            <a:r>
              <a:rPr lang="en-US" dirty="0">
                <a:latin typeface="Times New Roman" panose="02020603050405020304" pitchFamily="18" charset="0"/>
                <a:cs typeface="Times New Roman" panose="02020603050405020304" pitchFamily="18" charset="0"/>
              </a:rPr>
              <a:t>10. How many types of Myths available.</a:t>
            </a:r>
            <a:endParaRPr lang="en-US" dirty="0">
              <a:latin typeface="Times New Roman" panose="02020603050405020304" pitchFamily="18" charset="0"/>
              <a:cs typeface="Times New Roman" panose="02020603050405020304" pitchFamily="18" charset="0"/>
            </a:endParaRPr>
          </a:p>
          <a:p>
            <a:pPr>
              <a:lnSpc>
                <a:spcPct val="120000"/>
              </a:lnSpc>
              <a:buNone/>
            </a:pPr>
            <a:r>
              <a:rPr lang="en-US" dirty="0">
                <a:latin typeface="Times New Roman" panose="02020603050405020304" pitchFamily="18" charset="0"/>
                <a:cs typeface="Times New Roman" panose="02020603050405020304" pitchFamily="18" charset="0"/>
              </a:rPr>
              <a:t>11. What are myths comes under </a:t>
            </a:r>
            <a:r>
              <a:rPr lang="en-US" altLang="zh-CN" dirty="0">
                <a:latin typeface="Times New Roman" panose="02020603050405020304" pitchFamily="18" charset="0"/>
                <a:ea typeface="SimSun" panose="02010600030101010101" pitchFamily="2" charset="-122"/>
                <a:cs typeface="Times New Roman" panose="02020603050405020304" pitchFamily="18" charset="0"/>
              </a:rPr>
              <a:t>Management Myths.</a:t>
            </a:r>
            <a:endParaRPr lang="en-US" altLang="zh-CN" dirty="0">
              <a:latin typeface="Times New Roman" panose="02020603050405020304" pitchFamily="18" charset="0"/>
              <a:ea typeface="SimSun" panose="02010600030101010101" pitchFamily="2" charset="-122"/>
              <a:cs typeface="Times New Roman" panose="02020603050405020304" pitchFamily="18" charset="0"/>
            </a:endParaRPr>
          </a:p>
          <a:p>
            <a:pPr marL="0" indent="0">
              <a:lnSpc>
                <a:spcPct val="120000"/>
              </a:lnSpc>
              <a:buNone/>
            </a:pPr>
            <a:r>
              <a:rPr lang="en-US" dirty="0">
                <a:latin typeface="Times New Roman" panose="02020603050405020304" pitchFamily="18" charset="0"/>
                <a:ea typeface="SimSun" panose="02010600030101010101" pitchFamily="2" charset="-122"/>
                <a:cs typeface="Times New Roman" panose="02020603050405020304" pitchFamily="18" charset="0"/>
              </a:rPr>
              <a:t>12. </a:t>
            </a:r>
            <a:r>
              <a:rPr lang="en-US" dirty="0">
                <a:latin typeface="Times New Roman" panose="02020603050405020304" pitchFamily="18" charset="0"/>
                <a:cs typeface="Times New Roman" panose="02020603050405020304" pitchFamily="18" charset="0"/>
              </a:rPr>
              <a:t>What are myths comes under </a:t>
            </a:r>
            <a:r>
              <a:rPr lang="en-US" altLang="zh-CN" dirty="0">
                <a:latin typeface="Times New Roman" panose="02020603050405020304" pitchFamily="18" charset="0"/>
                <a:ea typeface="SimSun" panose="02010600030101010101" pitchFamily="2" charset="-122"/>
                <a:cs typeface="Times New Roman" panose="02020603050405020304" pitchFamily="18" charset="0"/>
              </a:rPr>
              <a:t>Customer Myths.</a:t>
            </a:r>
            <a:br>
              <a:rPr lang="en-US" altLang="zh-CN" dirty="0">
                <a:latin typeface="Times New Roman" panose="02020603050405020304" pitchFamily="18" charset="0"/>
                <a:ea typeface="SimSun" panose="02010600030101010101" pitchFamily="2" charset="-122"/>
                <a:cs typeface="Times New Roman" panose="02020603050405020304" pitchFamily="18" charset="0"/>
              </a:rPr>
            </a:br>
            <a:r>
              <a:rPr lang="en-US" altLang="zh-CN" dirty="0">
                <a:latin typeface="Times New Roman" panose="02020603050405020304" pitchFamily="18" charset="0"/>
                <a:ea typeface="SimSun" panose="02010600030101010101" pitchFamily="2" charset="-122"/>
                <a:cs typeface="Times New Roman" panose="02020603050405020304" pitchFamily="18" charset="0"/>
              </a:rPr>
              <a:t>13. </a:t>
            </a:r>
            <a:r>
              <a:rPr lang="en-US" dirty="0">
                <a:latin typeface="Times New Roman" panose="02020603050405020304" pitchFamily="18" charset="0"/>
                <a:cs typeface="Times New Roman" panose="02020603050405020304" pitchFamily="18" charset="0"/>
              </a:rPr>
              <a:t>What are myths comes under </a:t>
            </a:r>
            <a:r>
              <a:rPr lang="en-US" altLang="zh-CN" dirty="0">
                <a:latin typeface="Times New Roman" panose="02020603050405020304" pitchFamily="18" charset="0"/>
                <a:ea typeface="SimSun" panose="02010600030101010101" pitchFamily="2" charset="-122"/>
                <a:cs typeface="Times New Roman" panose="02020603050405020304" pitchFamily="18" charset="0"/>
              </a:rPr>
              <a:t>Practitioner’s  Myths.</a:t>
            </a:r>
            <a:r>
              <a:rPr lang="en-US"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000" b="1" dirty="0">
                <a:solidFill>
                  <a:srgbClr val="C00000"/>
                </a:solidFill>
                <a:latin typeface="Times New Roman" panose="02020603050405020304" pitchFamily="18" charset="0"/>
                <a:ea typeface="+mn-ea"/>
                <a:cs typeface="Times New Roman" panose="02020603050405020304" pitchFamily="18" charset="0"/>
              </a:rPr>
              <a:t>REFERENCES FOR FURTHER LEARNING OF THE SESSION</a:t>
            </a:r>
            <a:endParaRPr lang="en-IN" sz="3000" b="1" dirty="0">
              <a:solidFill>
                <a:srgbClr val="C00000"/>
              </a:solidFill>
              <a:latin typeface="Times New Roman" panose="02020603050405020304" pitchFamily="18" charset="0"/>
              <a:ea typeface="+mn-ea"/>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CBABCCC1-BF11-4F37-963E-1BCD5B23FD72}" type="slidenum">
              <a:rPr lang="en-IN" smtClean="0"/>
            </a:fld>
            <a:endParaRPr lang="en-IN"/>
          </a:p>
        </p:txBody>
      </p:sp>
      <p:sp>
        <p:nvSpPr>
          <p:cNvPr id="5" name="TextBox 4"/>
          <p:cNvSpPr txBox="1"/>
          <p:nvPr/>
        </p:nvSpPr>
        <p:spPr>
          <a:xfrm>
            <a:off x="793327" y="1955558"/>
            <a:ext cx="11142511" cy="5860515"/>
          </a:xfrm>
          <a:prstGeom prst="rect">
            <a:avLst/>
          </a:prstGeom>
          <a:noFill/>
        </p:spPr>
        <p:txBody>
          <a:bodyPr wrap="square" rtlCol="0">
            <a:spAutoFit/>
          </a:bodyPr>
          <a:lstStyle/>
          <a:p>
            <a:r>
              <a:rPr lang="en-US" dirty="0"/>
              <a:t> </a:t>
            </a:r>
            <a:r>
              <a:rPr lang="en-IN" b="1" dirty="0"/>
              <a:t>TEXTBOOKS:</a:t>
            </a:r>
            <a:endParaRPr lang="en-IN" dirty="0"/>
          </a:p>
          <a:p>
            <a:r>
              <a:rPr lang="en-IN" dirty="0"/>
              <a:t> </a:t>
            </a:r>
            <a:endParaRPr lang="en-IN" b="1" dirty="0"/>
          </a:p>
          <a:p>
            <a:pPr lvl="0"/>
            <a:r>
              <a:rPr lang="en-IN" dirty="0"/>
              <a:t>1. Roger </a:t>
            </a:r>
            <a:r>
              <a:rPr lang="en-IN" dirty="0" err="1"/>
              <a:t>S.Pressman</a:t>
            </a:r>
            <a:r>
              <a:rPr lang="en-IN" dirty="0"/>
              <a:t>, “Software Engineering – A Practitioner’s Approach” 7th Edition, Mc Graw Hill,(2014).</a:t>
            </a:r>
            <a:endParaRPr lang="en-IN" b="1" dirty="0"/>
          </a:p>
          <a:p>
            <a:pPr lvl="0"/>
            <a:r>
              <a:rPr lang="en-IN" dirty="0"/>
              <a:t>2. Ian Sommerville, “Software Engineering”, Tenth Edition, Pearson Education, (2015).</a:t>
            </a:r>
            <a:endParaRPr lang="en-IN" dirty="0"/>
          </a:p>
          <a:p>
            <a:r>
              <a:rPr lang="en-IN" sz="1800" kern="100" dirty="0">
                <a:effectLst/>
                <a:latin typeface="Calibri" panose="020F0502020204030204" pitchFamily="34" charset="0"/>
                <a:ea typeface="Calibri" panose="020F0502020204030204" pitchFamily="34" charset="0"/>
                <a:cs typeface="Calibri" panose="020F0502020204030204" pitchFamily="34" charset="0"/>
              </a:rPr>
              <a:t>3. Agile Software Development Ecosystems, Jim Highsmith, Addison Wesley; ISBN: 0201760436; 1</a:t>
            </a:r>
            <a:r>
              <a:rPr lang="en-IN" sz="1800" kern="100" baseline="30000" dirty="0">
                <a:effectLst/>
                <a:latin typeface="Calibri" panose="020F0502020204030204" pitchFamily="34" charset="0"/>
                <a:ea typeface="Calibri" panose="020F0502020204030204" pitchFamily="34" charset="0"/>
                <a:cs typeface="Calibri" panose="020F0502020204030204" pitchFamily="34" charset="0"/>
              </a:rPr>
              <a:t>st</a:t>
            </a:r>
            <a:r>
              <a:rPr lang="en-IN" sz="1800" kern="100" dirty="0">
                <a:effectLst/>
                <a:latin typeface="Calibri" panose="020F0502020204030204" pitchFamily="34" charset="0"/>
                <a:ea typeface="Calibri" panose="020F0502020204030204" pitchFamily="34" charset="0"/>
                <a:cs typeface="Calibri" panose="020F0502020204030204" pitchFamily="34" charset="0"/>
              </a:rPr>
              <a:t> edition</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lvl="0"/>
            <a:endParaRPr lang="en-IN" b="1" dirty="0"/>
          </a:p>
          <a:p>
            <a:r>
              <a:rPr lang="en-IN" b="1" dirty="0"/>
              <a:t> Reference Book</a:t>
            </a:r>
            <a:endParaRPr lang="en-IN" b="1" dirty="0"/>
          </a:p>
          <a:p>
            <a:r>
              <a:rPr lang="en-IN" sz="1800" b="1" kern="0" dirty="0">
                <a:effectLst/>
                <a:latin typeface="Calibri" panose="020F0502020204030204" pitchFamily="34" charset="0"/>
                <a:ea typeface="Times New Roman" panose="02020603050405020304" pitchFamily="18" charset="0"/>
                <a:cs typeface="Times New Roman" panose="02020603050405020304" pitchFamily="18" charset="0"/>
              </a:rPr>
              <a:t> </a:t>
            </a:r>
            <a:r>
              <a:rPr lang="en-IN" sz="1800" kern="0" dirty="0">
                <a:effectLst/>
                <a:latin typeface="Calibri" panose="020F0502020204030204" pitchFamily="34" charset="0"/>
                <a:ea typeface="Times New Roman" panose="02020603050405020304" pitchFamily="18" charset="0"/>
                <a:cs typeface="Times New Roman" panose="02020603050405020304" pitchFamily="18" charset="0"/>
              </a:rPr>
              <a:t>Agile Modelling: Effective Practices for Extreme Programming and the Unified Process Scott Amber John Wiley &amp; Sons; ISBN: 0471202827; 1st edition.</a:t>
            </a:r>
            <a:endParaRPr lang="en-IN" sz="1800" kern="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IN" b="1" dirty="0"/>
              <a:t>WEB REFERNCES/MOOCS:</a:t>
            </a:r>
            <a:endParaRPr lang="en-IN" dirty="0"/>
          </a:p>
          <a:p>
            <a:pPr lvl="0"/>
            <a:r>
              <a:rPr lang="en-IN" dirty="0"/>
              <a:t>https://www.digite.com/kanban/what-is-kanban/</a:t>
            </a:r>
            <a:endParaRPr lang="en-IN" b="1" dirty="0"/>
          </a:p>
          <a:p>
            <a:pPr lvl="0"/>
            <a:r>
              <a:rPr lang="en-IN" dirty="0"/>
              <a:t>http://www.scaledagileframework.com</a:t>
            </a:r>
            <a:endParaRPr lang="en-IN" b="1" dirty="0"/>
          </a:p>
          <a:p>
            <a:pPr lvl="0"/>
            <a:r>
              <a:rPr lang="en-IN" dirty="0"/>
              <a:t>https://www.guru99.com/test-driven-development.html</a:t>
            </a:r>
            <a:endParaRPr lang="en-IN" b="1" dirty="0"/>
          </a:p>
          <a:p>
            <a:pPr lvl="0"/>
            <a:r>
              <a:rPr lang="en-IN" dirty="0"/>
              <a:t>https://junit.org/junit5/</a:t>
            </a:r>
            <a:endParaRPr lang="en-IN" b="1" dirty="0"/>
          </a:p>
          <a:p>
            <a:pPr>
              <a:lnSpc>
                <a:spcPct val="150000"/>
              </a:lnSpc>
            </a:pPr>
            <a:endParaRPr lang="en-US" dirty="0"/>
          </a:p>
          <a:p>
            <a:pPr>
              <a:lnSpc>
                <a:spcPct val="150000"/>
              </a:lnSpc>
            </a:pPr>
            <a:endParaRPr lang="en-US" dirty="0"/>
          </a:p>
          <a:p>
            <a:pPr>
              <a:lnSpc>
                <a:spcPct val="150000"/>
              </a:lnSpc>
            </a:pPr>
            <a:endParaRPr lang="en-US" dirty="0"/>
          </a:p>
          <a:p>
            <a:pPr>
              <a:lnSpc>
                <a:spcPct val="150000"/>
              </a:lnSpc>
            </a:pP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fld>
            <a:endParaRPr lang="en-IN"/>
          </a:p>
        </p:txBody>
      </p:sp>
      <p:sp>
        <p:nvSpPr>
          <p:cNvPr id="6" name="Rounded Rectangle 3"/>
          <p:cNvSpPr/>
          <p:nvPr/>
        </p:nvSpPr>
        <p:spPr>
          <a:xfrm>
            <a:off x="2135943" y="1987061"/>
            <a:ext cx="7920111" cy="2883877"/>
          </a:xfrm>
          <a:prstGeom prst="roundRect">
            <a:avLst/>
          </a:prstGeom>
          <a:solidFill>
            <a:srgbClr val="ED7D31"/>
          </a:solidFill>
          <a:ln w="19050" cap="flat" cmpd="sng" algn="ctr">
            <a:noFill/>
            <a:prstDash val="solid"/>
          </a:ln>
          <a:effectLst>
            <a:outerShdw blurRad="50800" dist="38100" dir="2700000" algn="tl" rotWithShape="0">
              <a:srgbClr val="BA2532">
                <a:alpha val="40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2400" b="0" i="0" u="none" strike="noStrike" kern="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sz="2400" b="1" i="0" u="none" strike="noStrike" kern="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en-US" sz="2400" b="1" i="0" u="none" strike="noStrike" kern="0" cap="none" spc="0" normalizeH="0" baseline="0" noProof="0" dirty="0">
                <a:ln>
                  <a:noFill/>
                </a:ln>
                <a:solidFill>
                  <a:prstClr val="white"/>
                </a:solidFill>
                <a:effectLst/>
                <a:uLnTx/>
                <a:uFillTx/>
                <a:latin typeface="Poppins" pitchFamily="2" charset="77"/>
                <a:ea typeface="+mn-ea"/>
                <a:cs typeface="Poppins" pitchFamily="2" charset="77"/>
              </a:rPr>
              <a:t>THANK YOU</a:t>
            </a:r>
            <a:endParaRPr kumimoji="0" lang="en-US" sz="2400" b="1" i="0" u="none" strike="noStrike" kern="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sz="2400" b="0" i="0" u="none" strike="noStrike" kern="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sz="2400" b="0" i="0" u="none" strike="noStrike" kern="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sz="2400" b="0" i="0" u="none" strike="noStrike" kern="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sz="2400" b="0" i="0" u="none" strike="noStrike" kern="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en-US" sz="2400" b="1" i="0" u="none" strike="noStrike" kern="0" cap="none" spc="0" normalizeH="0" baseline="0" noProof="0" dirty="0">
                <a:ln>
                  <a:noFill/>
                </a:ln>
                <a:solidFill>
                  <a:prstClr val="white"/>
                </a:solidFill>
                <a:effectLst/>
                <a:uLnTx/>
                <a:uFillTx/>
                <a:latin typeface="Poppins" pitchFamily="2" charset="77"/>
                <a:ea typeface="+mn-ea"/>
                <a:cs typeface="Poppins" pitchFamily="2" charset="77"/>
              </a:rPr>
              <a:t>Team – ADAPTIVE SOFTWARE ENGINEERING</a:t>
            </a:r>
            <a:endParaRPr kumimoji="0" lang="en-US" sz="2400" b="0" i="0" u="none" strike="noStrike" kern="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en-US" sz="2400" b="0" i="0" u="none" strike="noStrike" kern="0" cap="none" spc="0" normalizeH="0" baseline="0" noProof="0" dirty="0">
              <a:ln>
                <a:noFill/>
              </a:ln>
              <a:solidFill>
                <a:prstClr val="white"/>
              </a:solidFill>
              <a:effectLst/>
              <a:uLnTx/>
              <a:uFillTx/>
              <a:latin typeface="Poppins" pitchFamily="2" charset="77"/>
              <a:ea typeface="+mn-ea"/>
              <a:cs typeface="Poppins" pitchFamily="2" charset="77"/>
            </a:endParaRPr>
          </a:p>
        </p:txBody>
      </p:sp>
      <p:pic>
        <p:nvPicPr>
          <p:cNvPr id="7" name="Picture 2" descr="KL Deemed to be University Logo"/>
          <p:cNvPicPr>
            <a:picLocks noChangeAspect="1" noChangeArrowheads="1"/>
          </p:cNvPicPr>
          <p:nvPr/>
        </p:nvPicPr>
        <p:blipFill>
          <a:blip r:embed="rId1"/>
          <a:srcRect/>
          <a:stretch>
            <a:fillRect/>
          </a:stretch>
        </p:blipFill>
        <p:spPr bwMode="auto">
          <a:xfrm>
            <a:off x="4883724" y="3007793"/>
            <a:ext cx="3235570" cy="1083212"/>
          </a:xfrm>
          <a:prstGeom prst="rect">
            <a:avLst/>
          </a:prstGeom>
          <a:noFill/>
        </p:spPr>
      </p:pic>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Session-2</Template>
  <TotalTime>0</TotalTime>
  <Words>6380</Words>
  <Application>WPS Presentation</Application>
  <PresentationFormat>Widescreen</PresentationFormat>
  <Paragraphs>202</Paragraphs>
  <Slides>16</Slides>
  <Notes>0</Notes>
  <HiddenSlides>0</HiddenSlides>
  <MMClips>0</MMClips>
  <ScaleCrop>false</ScaleCrop>
  <HeadingPairs>
    <vt:vector size="6" baseType="variant">
      <vt:variant>
        <vt:lpstr>已用的字体</vt:lpstr>
      </vt:variant>
      <vt:variant>
        <vt:i4>24</vt:i4>
      </vt:variant>
      <vt:variant>
        <vt:lpstr>主题</vt:lpstr>
      </vt:variant>
      <vt:variant>
        <vt:i4>1</vt:i4>
      </vt:variant>
      <vt:variant>
        <vt:lpstr>幻灯片标题</vt:lpstr>
      </vt:variant>
      <vt:variant>
        <vt:i4>16</vt:i4>
      </vt:variant>
    </vt:vector>
  </HeadingPairs>
  <TitlesOfParts>
    <vt:vector size="41" baseType="lpstr">
      <vt:lpstr>Arial</vt:lpstr>
      <vt:lpstr>SimSun</vt:lpstr>
      <vt:lpstr>Wingdings</vt:lpstr>
      <vt:lpstr>Poppins</vt:lpstr>
      <vt:lpstr>Segoe Print</vt:lpstr>
      <vt:lpstr>BioRhyme ExtraBold</vt:lpstr>
      <vt:lpstr>Poppins</vt:lpstr>
      <vt:lpstr>Calibri Light</vt:lpstr>
      <vt:lpstr>Arial</vt:lpstr>
      <vt:lpstr>Calibri</vt:lpstr>
      <vt:lpstr>Times New Roman</vt:lpstr>
      <vt:lpstr>Palatino</vt:lpstr>
      <vt:lpstr>Palatino Linotype</vt:lpstr>
      <vt:lpstr>MS PGothic</vt:lpstr>
      <vt:lpstr>Noto Symbol</vt:lpstr>
      <vt:lpstr>Symbol</vt:lpstr>
      <vt:lpstr>Helvetica Neue</vt:lpstr>
      <vt:lpstr>Gill Sans MT</vt:lpstr>
      <vt:lpstr>Microsoft YaHei</vt:lpstr>
      <vt:lpstr>Arial Unicode MS</vt:lpstr>
      <vt:lpstr>urw-din</vt:lpstr>
      <vt:lpstr>Calibri</vt:lpstr>
      <vt:lpstr>Poppins</vt:lpstr>
      <vt:lpstr>Yu Gothic</vt:lpstr>
      <vt:lpstr>Gallery</vt:lpstr>
      <vt:lpstr>PowerPoint 演示文稿</vt:lpstr>
      <vt:lpstr>PowerPoint 演示文稿</vt:lpstr>
      <vt:lpstr>Software Myths</vt:lpstr>
      <vt:lpstr>1.Management Myths</vt:lpstr>
      <vt:lpstr>Management Myths cont..</vt:lpstr>
      <vt:lpstr>PowerPoint 演示文稿</vt:lpstr>
      <vt:lpstr>PowerPoint 演示文稿</vt:lpstr>
      <vt:lpstr>2. Customer Myths</vt:lpstr>
      <vt:lpstr>Customer Myths cont…</vt:lpstr>
      <vt:lpstr>Customer Myths cont…</vt:lpstr>
      <vt:lpstr>3. Practitioner’s  Myths</vt:lpstr>
      <vt:lpstr>Practitioner’s  Myths cont..</vt:lpstr>
      <vt:lpstr>Practitioner’s  Myths cont..</vt:lpstr>
      <vt:lpstr>SELF-ASSESSMENT QUESTIONS</vt:lpstr>
      <vt:lpstr>REFERENCES FOR FURTHER LEARNING OF THE SESSION</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Abhishek Guru</dc:creator>
  <cp:lastModifiedBy>NIROSHA Bandla</cp:lastModifiedBy>
  <cp:revision>3</cp:revision>
  <dcterms:created xsi:type="dcterms:W3CDTF">2023-05-02T16:26:00Z</dcterms:created>
  <dcterms:modified xsi:type="dcterms:W3CDTF">2025-07-24T11:29:55Z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647BDD96C7D34931AC1FC874D9E4A7AE_13</vt:lpwstr>
  </property>
  <property fmtid="{D5CDD505-2E9C-101B-9397-08002B2CF9AE}" pid="3" name="KSOProductBuildVer">
    <vt:lpwstr>1033-12.2.0.21931</vt:lpwstr>
  </property>
</Properties>
</file>